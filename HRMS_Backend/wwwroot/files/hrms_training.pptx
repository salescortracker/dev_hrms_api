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312" r:id="rId2"/>
    <p:sldId id="256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  <p:sldId id="362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1" r:id="rId112"/>
    <p:sldId id="372" r:id="rId113"/>
    <p:sldId id="373" r:id="rId114"/>
    <p:sldId id="374" r:id="rId115"/>
    <p:sldId id="375" r:id="rId116"/>
    <p:sldId id="376" r:id="rId117"/>
    <p:sldId id="377" r:id="rId118"/>
    <p:sldId id="378" r:id="rId119"/>
    <p:sldId id="379" r:id="rId120"/>
    <p:sldId id="380" r:id="rId121"/>
    <p:sldId id="381" r:id="rId122"/>
    <p:sldId id="382" r:id="rId123"/>
    <p:sldId id="383" r:id="rId124"/>
    <p:sldId id="384" r:id="rId125"/>
    <p:sldId id="385" r:id="rId126"/>
    <p:sldId id="386" r:id="rId127"/>
    <p:sldId id="387" r:id="rId128"/>
    <p:sldId id="388" r:id="rId129"/>
    <p:sldId id="389" r:id="rId130"/>
    <p:sldId id="390" r:id="rId131"/>
    <p:sldId id="391" r:id="rId132"/>
    <p:sldId id="392" r:id="rId133"/>
    <p:sldId id="393" r:id="rId134"/>
    <p:sldId id="394" r:id="rId135"/>
    <p:sldId id="395" r:id="rId136"/>
    <p:sldId id="396" r:id="rId137"/>
    <p:sldId id="397" r:id="rId138"/>
    <p:sldId id="398" r:id="rId139"/>
    <p:sldId id="399" r:id="rId140"/>
    <p:sldId id="400" r:id="rId141"/>
    <p:sldId id="401" r:id="rId142"/>
    <p:sldId id="402" r:id="rId143"/>
    <p:sldId id="403" r:id="rId144"/>
    <p:sldId id="404" r:id="rId145"/>
    <p:sldId id="405" r:id="rId146"/>
    <p:sldId id="406" r:id="rId147"/>
    <p:sldId id="407" r:id="rId148"/>
    <p:sldId id="408" r:id="rId149"/>
    <p:sldId id="409" r:id="rId150"/>
    <p:sldId id="410" r:id="rId151"/>
    <p:sldId id="411" r:id="rId152"/>
    <p:sldId id="412" r:id="rId153"/>
    <p:sldId id="413" r:id="rId154"/>
    <p:sldId id="414" r:id="rId155"/>
    <p:sldId id="415" r:id="rId156"/>
    <p:sldId id="416" r:id="rId157"/>
    <p:sldId id="417" r:id="rId158"/>
    <p:sldId id="420" r:id="rId159"/>
    <p:sldId id="418" r:id="rId160"/>
    <p:sldId id="419" r:id="rId1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83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6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69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14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82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8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7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01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25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36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4569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085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9465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255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66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61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207D7-8410-4A87-8D2F-36ED9743D16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2C9FE18-15CB-4156-9914-9EC2BD6AC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0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1009" y="1955410"/>
            <a:ext cx="8468751" cy="1767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500" b="1" dirty="0"/>
              <a:t>Cortracker </a:t>
            </a:r>
            <a:r>
              <a:rPr lang="en-US" sz="4500" b="1" dirty="0" smtClean="0"/>
              <a:t>HRMS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2000" i="1" dirty="0"/>
              <a:t>Smart. Seamless. Scalable Workforce Management</a:t>
            </a:r>
            <a:endParaRPr lang="en-US" sz="2000" dirty="0"/>
          </a:p>
          <a:p>
            <a:r>
              <a:rPr lang="en-US" sz="2000" dirty="0"/>
              <a:t>Empowering organizations with intelligent HR automation and real-time insights</a:t>
            </a:r>
          </a:p>
        </p:txBody>
      </p:sp>
    </p:spTree>
    <p:extLst>
      <p:ext uri="{BB962C8B-B14F-4D97-AF65-F5344CB8AC3E}">
        <p14:creationId xmlns:p14="http://schemas.microsoft.com/office/powerpoint/2010/main" val="218464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A972344-FE4F-2D3B-B0C3-F905C81F7942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0" y="-58337"/>
            <a:ext cx="9720775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Welcome Demo </a:t>
            </a:r>
            <a:r>
              <a:rPr lang="en-US" sz="2500" b="1" u="sng" dirty="0" smtClean="0">
                <a:solidFill>
                  <a:schemeClr val="tx1"/>
                </a:solidFill>
              </a:rPr>
              <a:t>Access</a:t>
            </a:r>
            <a:br>
              <a:rPr lang="en-US" sz="2500" b="1" u="sng" dirty="0" smtClean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/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>Entry point to the Cortracker HRMS system </a:t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/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>Users can generate secure login credentials instantly </a:t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/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>Provides full access to key modules for evaluation </a:t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/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>Validity: </a:t>
            </a:r>
            <a:r>
              <a:rPr lang="en-US" sz="1600" b="1" dirty="0" smtClean="0">
                <a:solidFill>
                  <a:schemeClr val="tx1"/>
                </a:solidFill>
              </a:rPr>
              <a:t>7 Days Trial Access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/>
            </a:r>
            <a:br>
              <a:rPr lang="en-US" sz="1600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/>
                </a:solidFill>
              </a:rPr>
              <a:t>Designed for quick onboarding and product experience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3C121-92A1-FA00-E7D8-919152410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85" y="2880929"/>
            <a:ext cx="8316820" cy="397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6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B2BC02-9BE4-88B6-FF72-8FDDD3FEA4BC}"/>
              </a:ext>
            </a:extLst>
          </p:cNvPr>
          <p:cNvSpPr txBox="1"/>
          <p:nvPr/>
        </p:nvSpPr>
        <p:spPr>
          <a:xfrm>
            <a:off x="402336" y="170334"/>
            <a:ext cx="6041135" cy="552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000" u="sng" dirty="0"/>
              <a:t>Admin Portal Login</a:t>
            </a:r>
            <a:endParaRPr lang="en-IN" sz="3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54E11-8222-6E6C-96B9-BE1EE79B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803635"/>
            <a:ext cx="8286241" cy="50972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B2BC02-9BE4-88B6-FF72-8FDDD3FEA4BC}"/>
              </a:ext>
            </a:extLst>
          </p:cNvPr>
          <p:cNvSpPr txBox="1"/>
          <p:nvPr/>
        </p:nvSpPr>
        <p:spPr>
          <a:xfrm>
            <a:off x="804672" y="2276947"/>
            <a:ext cx="7996076" cy="1521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3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02336" y="559200"/>
            <a:ext cx="9121492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login credentials (User ID &amp; Password)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validates credentials against the system database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authentication is applied Successful login → Redirect to Admin Portal Dashboard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Failed login → Error message with retry option </a:t>
            </a:r>
          </a:p>
        </p:txBody>
      </p:sp>
    </p:spTree>
    <p:extLst>
      <p:ext uri="{BB962C8B-B14F-4D97-AF65-F5344CB8AC3E}">
        <p14:creationId xmlns:p14="http://schemas.microsoft.com/office/powerpoint/2010/main" val="408486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9A3536-112F-B436-9282-8697E78C638C}"/>
              </a:ext>
            </a:extLst>
          </p:cNvPr>
          <p:cNvSpPr txBox="1"/>
          <p:nvPr/>
        </p:nvSpPr>
        <p:spPr>
          <a:xfrm>
            <a:off x="1060705" y="425500"/>
            <a:ext cx="5776194" cy="853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500" b="1" u="sng" dirty="0"/>
              <a:t>Password Change Workflow</a:t>
            </a:r>
            <a:endParaRPr lang="en-US" sz="2500" u="sng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75EB76-38E6-7772-A277-9CB3A69E3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43" y="3024641"/>
            <a:ext cx="8262122" cy="42042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9A3536-112F-B436-9282-8697E78C638C}"/>
              </a:ext>
            </a:extLst>
          </p:cNvPr>
          <p:cNvSpPr txBox="1"/>
          <p:nvPr/>
        </p:nvSpPr>
        <p:spPr>
          <a:xfrm>
            <a:off x="1060705" y="1605495"/>
            <a:ext cx="5776194" cy="322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53743" y="307963"/>
            <a:ext cx="7541021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logs in with initial credentials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Popup prompts for password update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 Password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Password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Confirm Password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validates and updates credentials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Redirects user to dashboard upon success </a:t>
            </a:r>
          </a:p>
        </p:txBody>
      </p:sp>
    </p:spTree>
    <p:extLst>
      <p:ext uri="{BB962C8B-B14F-4D97-AF65-F5344CB8AC3E}">
        <p14:creationId xmlns:p14="http://schemas.microsoft.com/office/powerpoint/2010/main" val="329096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AF9E8-7E5C-8AB7-F842-15DCE7DB2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19" y="133175"/>
            <a:ext cx="6675589" cy="485803"/>
          </a:xfrm>
        </p:spPr>
        <p:txBody>
          <a:bodyPr>
            <a:normAutofit fontScale="90000"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Post Password Change Flow</a:t>
            </a:r>
            <a:r>
              <a:rPr lang="en-IN" sz="2500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500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u="sng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6D02E9-72AC-6158-4D1E-2EF1400A1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848" y="3112941"/>
            <a:ext cx="6725802" cy="34496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D1AF9E8-7E5C-8AB7-F842-15DCE7DB2E43}"/>
              </a:ext>
            </a:extLst>
          </p:cNvPr>
          <p:cNvSpPr txBox="1">
            <a:spLocks/>
          </p:cNvSpPr>
          <p:nvPr/>
        </p:nvSpPr>
        <p:spPr>
          <a:xfrm>
            <a:off x="688848" y="2250830"/>
            <a:ext cx="7550130" cy="24055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90732" y="527009"/>
            <a:ext cx="805141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submits new password details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validates and updates credentials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 notification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displayed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redirection to Login Page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logs in with new password to continue </a:t>
            </a:r>
          </a:p>
        </p:txBody>
      </p:sp>
    </p:spTree>
    <p:extLst>
      <p:ext uri="{BB962C8B-B14F-4D97-AF65-F5344CB8AC3E}">
        <p14:creationId xmlns:p14="http://schemas.microsoft.com/office/powerpoint/2010/main" val="198638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E150-2781-7671-ACD7-5CFBBE82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05" y="118169"/>
            <a:ext cx="5989869" cy="376554"/>
          </a:xfrm>
        </p:spPr>
        <p:txBody>
          <a:bodyPr>
            <a:noAutofit/>
          </a:bodyPr>
          <a:lstStyle/>
          <a:p>
            <a:r>
              <a:rPr lang="en-US" sz="2000" b="1" u="sng" dirty="0">
                <a:solidFill>
                  <a:schemeClr val="tx1"/>
                </a:solidFill>
              </a:rPr>
              <a:t>Login Validation Flow</a:t>
            </a:r>
            <a:endParaRPr lang="en-IN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ACDA40-3EB5-8159-69D5-CF678B3AE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888" y="2842172"/>
            <a:ext cx="7544034" cy="391441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219E150-2781-7671-ACD7-5CFBBE822C9E}"/>
              </a:ext>
            </a:extLst>
          </p:cNvPr>
          <p:cNvSpPr txBox="1">
            <a:spLocks/>
          </p:cNvSpPr>
          <p:nvPr/>
        </p:nvSpPr>
        <p:spPr>
          <a:xfrm>
            <a:off x="319805" y="748869"/>
            <a:ext cx="7769117" cy="19661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20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6739" y="748869"/>
            <a:ext cx="6096000" cy="21189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User submits login credentials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System performs authentication and validation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On success → Displays </a:t>
            </a:r>
            <a:r>
              <a:rPr lang="en-US" b="1" dirty="0"/>
              <a:t>“Login Successful”</a:t>
            </a:r>
            <a:r>
              <a:rPr lang="en-US" dirty="0"/>
              <a:t> notification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Automatically navigates to Admin Dashboard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Grants role-based access to system modules </a:t>
            </a:r>
          </a:p>
        </p:txBody>
      </p:sp>
    </p:spTree>
    <p:extLst>
      <p:ext uri="{BB962C8B-B14F-4D97-AF65-F5344CB8AC3E}">
        <p14:creationId xmlns:p14="http://schemas.microsoft.com/office/powerpoint/2010/main" val="396297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7EBD-526A-271A-85F9-FCCF710E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83" y="0"/>
            <a:ext cx="9395556" cy="764096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Admin Dashboard Overview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D8603E-3BED-7D2C-9E93-3D476ADA7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368" y="2640295"/>
            <a:ext cx="8216939" cy="4217705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08083" y="382048"/>
            <a:ext cx="7603363" cy="19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 access to all administrative features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modules including HR, Employee Management, and Settings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master data and system configurations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 insights through dashboards and reports </a:t>
            </a:r>
          </a:p>
        </p:txBody>
      </p:sp>
    </p:spTree>
    <p:extLst>
      <p:ext uri="{BB962C8B-B14F-4D97-AF65-F5344CB8AC3E}">
        <p14:creationId xmlns:p14="http://schemas.microsoft.com/office/powerpoint/2010/main" val="1737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6392-7B32-609D-20AA-80696FF30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218128"/>
            <a:ext cx="7826326" cy="622261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Company Master – Manage Company Information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50B504-82C6-8068-AF43-AB4DE1CCD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560" y="2701147"/>
            <a:ext cx="6358128" cy="38120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5760" y="669822"/>
            <a:ext cx="666292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and store complete company details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organizational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 handling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accuracy and easy updates of company records </a:t>
            </a:r>
          </a:p>
        </p:txBody>
      </p:sp>
    </p:spTree>
    <p:extLst>
      <p:ext uri="{BB962C8B-B14F-4D97-AF65-F5344CB8AC3E}">
        <p14:creationId xmlns:p14="http://schemas.microsoft.com/office/powerpoint/2010/main" val="218618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F1AF-0B72-5286-DE42-6875AC29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7" y="140042"/>
            <a:ext cx="8052582" cy="408598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Region Master – Company-Wise Region Management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B111DD-01DA-D543-A6FB-41248DB17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150" y="2295645"/>
            <a:ext cx="7700889" cy="5772849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9897" y="389774"/>
            <a:ext cx="786970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regions associated with specific companies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Name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region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region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efficient updates </a:t>
            </a:r>
          </a:p>
        </p:txBody>
      </p:sp>
    </p:spTree>
    <p:extLst>
      <p:ext uri="{BB962C8B-B14F-4D97-AF65-F5344CB8AC3E}">
        <p14:creationId xmlns:p14="http://schemas.microsoft.com/office/powerpoint/2010/main" val="182265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2517-31A9-E5AF-D4DE-84872E83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4"/>
            <a:ext cx="7222588" cy="366395"/>
          </a:xfrm>
        </p:spPr>
        <p:txBody>
          <a:bodyPr>
            <a:normAutofit fontScale="90000"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Menu Access Workflow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A04A44-46E6-F35E-3488-745C1E26A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8324"/>
            <a:ext cx="7095978" cy="6135826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03384" y="0"/>
            <a:ext cx="65517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maintains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order of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navbar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configures access 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 &amp; Permissions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permissions to users or roles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Activate/Deactivate modules to control visibility and access </a:t>
            </a:r>
          </a:p>
        </p:txBody>
      </p:sp>
    </p:spTree>
    <p:extLst>
      <p:ext uri="{BB962C8B-B14F-4D97-AF65-F5344CB8AC3E}">
        <p14:creationId xmlns:p14="http://schemas.microsoft.com/office/powerpoint/2010/main" val="134448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254B-3AF0-5AE0-A137-441457822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5897880" cy="451739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Role &amp; Permission Workflow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87D030-7C25-172F-C337-06DE7BD77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69220"/>
            <a:ext cx="5897880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225869"/>
            <a:ext cx="5410455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Create a new role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Select the role for configuration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Assign menu-level permissions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Activate/Deactivate module access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Save role permissions to apply changes </a:t>
            </a:r>
          </a:p>
        </p:txBody>
      </p:sp>
    </p:spTree>
    <p:extLst>
      <p:ext uri="{BB962C8B-B14F-4D97-AF65-F5344CB8AC3E}">
        <p14:creationId xmlns:p14="http://schemas.microsoft.com/office/powerpoint/2010/main" val="390337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3CF6-341F-110E-94EB-EDC7B57A2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093"/>
            <a:ext cx="5607478" cy="348107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Department Creation Workflow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E7939B-56DD-BD2C-27FB-E119D0D6F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456" y="2874414"/>
            <a:ext cx="5607478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30791"/>
            <a:ext cx="6462025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Name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corresponding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department details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store information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or delete records as required (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77509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45AD-B070-0E2F-68CE-A31026B0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265"/>
            <a:ext cx="6096336" cy="448786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Grade Creation Workflow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CA62CB-730F-3DBE-B268-7F92A3064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415" y="3336656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87415" y="610098"/>
            <a:ext cx="6397905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Name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corresponding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grade details (e.g., Grade Name, Description)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store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Modify or delete records as required (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03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DB57-3FD0-60C3-32A7-EF2D0D9A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145836"/>
            <a:ext cx="5652262" cy="597408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Designation Creation Workflow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A6CA6-6FCA-C65A-4CBF-2F9804CFC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458777"/>
            <a:ext cx="8567928" cy="4638846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58952" y="509252"/>
            <a:ext cx="638508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applicable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designation details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designation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or delete records as needed (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23922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48BC-9ED5-F6CB-05EA-78D6D89D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11" y="0"/>
            <a:ext cx="10515600" cy="372491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User Creation &amp; Onboarding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875D7B-2FFE-7E16-916D-831226C78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11" y="2746911"/>
            <a:ext cx="6470904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746901"/>
            <a:ext cx="7958141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users aligned with organizational hierarchy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 includes Company, Region, Role, Department, and Designation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reporting structure through Manager ID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generates secure login credentials automatically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receive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notification with login URL and credentials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463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453A-EE13-CE77-1BE1-03C5C0BE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58" y="140042"/>
            <a:ext cx="5943927" cy="457835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Gender Master – Data Configuration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F14F28-0800-3C50-30D0-313E67091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10" y="2506662"/>
            <a:ext cx="5943927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73585" y="234963"/>
            <a:ext cx="7026282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gender categories aligned with company and region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standardized data management across the organization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control of gender master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</a:t>
            </a:r>
          </a:p>
        </p:txBody>
      </p:sp>
    </p:spTree>
    <p:extLst>
      <p:ext uri="{BB962C8B-B14F-4D97-AF65-F5344CB8AC3E}">
        <p14:creationId xmlns:p14="http://schemas.microsoft.com/office/powerpoint/2010/main" val="218968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4599-B48C-780C-83AC-969091DF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96336" cy="372491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Blood Group Master – Configuration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0DE926-9A94-8F78-9356-871DE9AEB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50822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655906"/>
            <a:ext cx="6060313" cy="19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and manage blood group details centrally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standardized data across the organization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efficient updates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accuracy in employee medical information </a:t>
            </a:r>
          </a:p>
        </p:txBody>
      </p:sp>
    </p:spTree>
    <p:extLst>
      <p:ext uri="{BB962C8B-B14F-4D97-AF65-F5344CB8AC3E}">
        <p14:creationId xmlns:p14="http://schemas.microsoft.com/office/powerpoint/2010/main" val="179291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4185-378B-A31E-772B-A2188289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73"/>
            <a:ext cx="7996311" cy="422666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Marital Status Master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3EABBE-151E-3446-3105-BCA556772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65" y="2900457"/>
            <a:ext cx="6096336" cy="3577716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746901"/>
            <a:ext cx="6590266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marital status details through the 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accurate employee personal data </a:t>
            </a:r>
          </a:p>
        </p:txBody>
      </p:sp>
    </p:spTree>
    <p:extLst>
      <p:ext uri="{BB962C8B-B14F-4D97-AF65-F5344CB8AC3E}">
        <p14:creationId xmlns:p14="http://schemas.microsoft.com/office/powerpoint/2010/main" val="299680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9534-B280-AA1A-21DE-3F7C000B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1906"/>
            <a:ext cx="8080717" cy="380463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Relationship Master – Company &amp; Region 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2CD0A1-D711-3C0C-836C-88D277458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185" y="2665386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16151"/>
            <a:ext cx="659026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relationship details through the 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accurate relationship data for employee records </a:t>
            </a:r>
          </a:p>
        </p:txBody>
      </p:sp>
    </p:spTree>
    <p:extLst>
      <p:ext uri="{BB962C8B-B14F-4D97-AF65-F5344CB8AC3E}">
        <p14:creationId xmlns:p14="http://schemas.microsoft.com/office/powerpoint/2010/main" val="126084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9712-59E7-D0C3-91BE-1E1877DC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1055" cy="418179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Certification Type Master – Company &amp; Region 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ACB6BB-16BD-E6E2-329A-4427DC37B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981" y="2640240"/>
            <a:ext cx="5955839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" y="-2677651"/>
            <a:ext cx="8271803" cy="5317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certification type details through the 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standardized certification records </a:t>
            </a:r>
          </a:p>
        </p:txBody>
      </p:sp>
    </p:spTree>
    <p:extLst>
      <p:ext uri="{BB962C8B-B14F-4D97-AF65-F5344CB8AC3E}">
        <p14:creationId xmlns:p14="http://schemas.microsoft.com/office/powerpoint/2010/main" val="232790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226F-0836-7569-BFE6-50CAA937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26548" cy="492369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Policy Category Master – Company &amp; Region </a:t>
            </a:r>
            <a:r>
              <a:rPr lang="en-US" sz="2500" b="1" u="sng" dirty="0" smtClean="0">
                <a:solidFill>
                  <a:schemeClr val="tx1"/>
                </a:solidFill>
              </a:rPr>
              <a:t>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3E1E66-D3B3-DF0F-C000-602C79DBC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992" y="2712619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85400"/>
            <a:ext cx="6647974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policy category details through the form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organized policy categories </a:t>
            </a:r>
          </a:p>
        </p:txBody>
      </p:sp>
    </p:spTree>
    <p:extLst>
      <p:ext uri="{BB962C8B-B14F-4D97-AF65-F5344CB8AC3E}">
        <p14:creationId xmlns:p14="http://schemas.microsoft.com/office/powerpoint/2010/main" val="99472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549E-E590-8F49-FFD0-99991F53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55634" cy="382238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Attachment Type Master – Company &amp; Region 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A3C34D-DDC8-F07A-4180-76A76BE19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11" y="3307683"/>
            <a:ext cx="6096336" cy="435133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0056" y="644240"/>
            <a:ext cx="6096000" cy="253447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Enter attachment type details through the form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Select </a:t>
            </a:r>
            <a:r>
              <a:rPr lang="en-US" b="1" dirty="0"/>
              <a:t>Company</a:t>
            </a:r>
            <a:r>
              <a:rPr lang="en-US" dirty="0"/>
              <a:t> and </a:t>
            </a:r>
            <a:r>
              <a:rPr lang="en-US" b="1" dirty="0"/>
              <a:t>Region</a:t>
            </a:r>
            <a:r>
              <a:rPr lang="en-US" dirty="0"/>
              <a:t> for mapping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Save information securely in the system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Perform </a:t>
            </a:r>
            <a:r>
              <a:rPr lang="en-US" b="1" dirty="0"/>
              <a:t>CRUD operations</a:t>
            </a:r>
            <a:r>
              <a:rPr lang="en-US" dirty="0"/>
              <a:t> (Create, Read, Update, Delete)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Manage document and attachment types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401371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0870-B96A-16C1-EBF7-C150AD0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32077" cy="464869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Project Status Master – Company &amp; Region 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8C2B89-70B0-78B7-01DB-F3779E9FE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6662"/>
            <a:ext cx="5955839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677651"/>
            <a:ext cx="8328074" cy="535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project status details through the 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and track project status effectively </a:t>
            </a:r>
          </a:p>
        </p:txBody>
      </p:sp>
    </p:spTree>
    <p:extLst>
      <p:ext uri="{BB962C8B-B14F-4D97-AF65-F5344CB8AC3E}">
        <p14:creationId xmlns:p14="http://schemas.microsoft.com/office/powerpoint/2010/main" val="319566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290D-496C-3D9C-B3EF-1318C08E3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95978" cy="411385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Asset Status Master – Company &amp; Region 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E5FA44-48CE-A3DC-BE4F-3A7F5F44C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49084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677651"/>
            <a:ext cx="659026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asset status details through the 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and track asset status efficiently </a:t>
            </a:r>
          </a:p>
        </p:txBody>
      </p:sp>
    </p:spTree>
    <p:extLst>
      <p:ext uri="{BB962C8B-B14F-4D97-AF65-F5344CB8AC3E}">
        <p14:creationId xmlns:p14="http://schemas.microsoft.com/office/powerpoint/2010/main" val="27708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4CC2-C486-34E7-BB10-854D97B13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61738" cy="436733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Helpdesk Master – Company &amp; Region 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364A37-DA45-7825-3FDD-7B5E7E1E1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591" y="2506662"/>
            <a:ext cx="5955839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" y="-2477703"/>
            <a:ext cx="6921305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helpdesk details through the 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helpdesk records efficiently </a:t>
            </a:r>
          </a:p>
        </p:txBody>
      </p:sp>
    </p:spTree>
    <p:extLst>
      <p:ext uri="{BB962C8B-B14F-4D97-AF65-F5344CB8AC3E}">
        <p14:creationId xmlns:p14="http://schemas.microsoft.com/office/powerpoint/2010/main" val="206559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98ED-C356-EE2B-65FE-7A7A1FEA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8567225" cy="680434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Expense Category Master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8E70F8-B7C3-10C9-F2A5-E8FA8F1FE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475" y="2874994"/>
            <a:ext cx="5715315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746906"/>
            <a:ext cx="6590266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expense category details through the 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expense categories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365358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67FF4-07EC-25C2-4D29-631FB3C66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71686" cy="421259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Leave Management Configuration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C0AB26-54CE-7746-9EC9-359E1DC00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034" y="2816161"/>
            <a:ext cx="6308188" cy="4707827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16150"/>
            <a:ext cx="735977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leave types (e.g., Casual Leave, Sick Leave, Annual Leave)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eligible leave days per policy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leave setup with company and region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leave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</a:t>
            </a:r>
          </a:p>
        </p:txBody>
      </p:sp>
    </p:spTree>
    <p:extLst>
      <p:ext uri="{BB962C8B-B14F-4D97-AF65-F5344CB8AC3E}">
        <p14:creationId xmlns:p14="http://schemas.microsoft.com/office/powerpoint/2010/main" val="112523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70DA-8780-21FC-2D20-1D183DDD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336" cy="335915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Attendance Status Master – Configuration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5A1CEF-2EF2-AC80-A5AC-08B8C7146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711" y="2755777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326971"/>
            <a:ext cx="8426548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attendance statuses (e.g., Present, Absent, Leave, Work From Home)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configurations with company and region policies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attendance status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and maintenance </a:t>
            </a:r>
          </a:p>
        </p:txBody>
      </p:sp>
    </p:spTree>
    <p:extLst>
      <p:ext uri="{BB962C8B-B14F-4D97-AF65-F5344CB8AC3E}">
        <p14:creationId xmlns:p14="http://schemas.microsoft.com/office/powerpoint/2010/main" val="399353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759D-7C51-1E5E-1CF6-8146BB25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0" y="0"/>
            <a:ext cx="7053775" cy="605546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Priority Master – Configuration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1DFEC6-6CA5-1351-53E5-7D588368C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440" y="2274384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00653"/>
            <a:ext cx="759053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priority levels (e.g., High, Medium, Low)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priority settings with company and region requirements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priority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and maintenance </a:t>
            </a:r>
          </a:p>
        </p:txBody>
      </p:sp>
    </p:spTree>
    <p:extLst>
      <p:ext uri="{BB962C8B-B14F-4D97-AF65-F5344CB8AC3E}">
        <p14:creationId xmlns:p14="http://schemas.microsoft.com/office/powerpoint/2010/main" val="190143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7E99-A90B-D4C5-73AE-CEA2D052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908476" cy="415163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Holiday Management – Configuration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5D374F-1D55-3ACD-4CEB-1D4B60778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831" y="2634436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85400"/>
            <a:ext cx="7590539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holidays aligned with company and regional policies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holiday name and corresponding date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holiday calendar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and maintenance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consistency across organizational schedules </a:t>
            </a:r>
          </a:p>
        </p:txBody>
      </p:sp>
    </p:spTree>
    <p:extLst>
      <p:ext uri="{BB962C8B-B14F-4D97-AF65-F5344CB8AC3E}">
        <p14:creationId xmlns:p14="http://schemas.microsoft.com/office/powerpoint/2010/main" val="327076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F425-B1E8-3823-75C1-C17D411C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" y="0"/>
            <a:ext cx="7433603" cy="337625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Week-Off Master – Company &amp; Region Based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646010-52B1-738E-E562-C45B8758D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977" y="2677661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677651"/>
            <a:ext cx="705629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week-off details through the form (e.g., Sunday, Saturday)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week-off configuration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employee weekly off schedules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233377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0AB6-4D7F-4C2D-AE22-2B5140A4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11905" cy="399796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Shift Management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CA7878-6569-B525-EDDB-0DFD4DE67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723" y="2591511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16150"/>
            <a:ext cx="662905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Name, Start Time, End Time, and Grace Time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shift details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employee shift schedules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305391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9C67-469D-2E9D-21CE-7D91AA31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82243" cy="464869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Resignation Management – Configuration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8FFC3F-F13F-C314-B510-EC7E21C49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116" y="2608727"/>
            <a:ext cx="5861861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231333"/>
            <a:ext cx="7590539" cy="604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resignation types (e.g., Voluntary, Termination, Retirement)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notice period policies for each type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setup with company and regional guidelines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resignation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and maintenance </a:t>
            </a:r>
          </a:p>
        </p:txBody>
      </p:sp>
    </p:spTree>
    <p:extLst>
      <p:ext uri="{BB962C8B-B14F-4D97-AF65-F5344CB8AC3E}">
        <p14:creationId xmlns:p14="http://schemas.microsoft.com/office/powerpoint/2010/main" val="58941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78C2C-1E95-9FA5-AF37-552CF26F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65232" cy="488315"/>
          </a:xfrm>
        </p:spPr>
        <p:txBody>
          <a:bodyPr>
            <a:norm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My Team Configuration – Employee Setup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ACCBDD-7644-B6EF-3D03-46915103A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185" y="2919622"/>
            <a:ext cx="6065232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8474" y="-4287829"/>
            <a:ext cx="7654660" cy="7104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team member details: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Name, Role, Department, and Manager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employees within the organizational hierarchy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team structure efficiently </a:t>
            </a:r>
          </a:p>
        </p:txBody>
      </p:sp>
    </p:spTree>
    <p:extLst>
      <p:ext uri="{BB962C8B-B14F-4D97-AF65-F5344CB8AC3E}">
        <p14:creationId xmlns:p14="http://schemas.microsoft.com/office/powerpoint/2010/main" val="78355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5542-F605-BC96-5BE7-3BFCAAB0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33603" cy="515620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Recruitment Notice Period – Configuration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22D58C-D0DE-C7F7-4A48-FCE8EC595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169" y="2864758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954649"/>
            <a:ext cx="759053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notice period requirements for recruitment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hiring timelines with company and regional policies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notice period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and maintenance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consistency in recruitment planning </a:t>
            </a:r>
          </a:p>
        </p:txBody>
      </p:sp>
    </p:spTree>
    <p:extLst>
      <p:ext uri="{BB962C8B-B14F-4D97-AF65-F5344CB8AC3E}">
        <p14:creationId xmlns:p14="http://schemas.microsoft.com/office/powerpoint/2010/main" val="27946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D2BD-2DB3-EE4B-04E0-1E0B17DC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97837" cy="467582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Interview Level Master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809B54-C3E2-C049-70E8-713B32C9B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895" y="2506662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4781" y="-2028367"/>
            <a:ext cx="65902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interview stages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11812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C2BB-2525-9322-D5B2-2AE90A46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18009" cy="479044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Company News Category – Configuration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1E5EB1-1370-EC11-631B-29ABC30D2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847" y="2954660"/>
            <a:ext cx="5560269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954650"/>
            <a:ext cx="759053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news categories (e.g., Announcements, Events, Updates)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categories with company and regional communication needs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of news category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updates and maintenance </a:t>
            </a:r>
          </a:p>
        </p:txBody>
      </p:sp>
    </p:spTree>
    <p:extLst>
      <p:ext uri="{BB962C8B-B14F-4D97-AF65-F5344CB8AC3E}">
        <p14:creationId xmlns:p14="http://schemas.microsoft.com/office/powerpoint/2010/main" val="183700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3400-5AD9-B774-45FC-8947887EB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69702" cy="509523"/>
          </a:xfrm>
        </p:spPr>
        <p:txBody>
          <a:bodyPr>
            <a:norm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Employment Type Master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8E2256-A826-CA55-E16E-5765DCFFF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049" y="3111413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05881" y="-3941032"/>
            <a:ext cx="7457939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employment type details (e.g., Full-Time, Part-Time, Contract)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employment types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120959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C728-6CCC-FE56-11D3-26E19BC8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79192" cy="338259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Asset Category Master – </a:t>
            </a:r>
            <a:r>
              <a:rPr lang="en-US" sz="2500" u="sng" dirty="0" smtClean="0">
                <a:solidFill>
                  <a:schemeClr val="tx1"/>
                </a:solidFill>
              </a:rPr>
              <a:t>Company </a:t>
            </a:r>
            <a:r>
              <a:rPr lang="en-US" sz="2500" u="sng" dirty="0">
                <a:solidFill>
                  <a:schemeClr val="tx1"/>
                </a:solidFill>
              </a:rPr>
              <a:t>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D854B2-7638-3DA1-02CB-7C74E4FF9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237" y="3417192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508648"/>
            <a:ext cx="7342779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asset category details (e.g., IT Assets, Furniture, Equipment)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asset categories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173108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D2C7-2A71-6C86-C167-CAA57680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18342" cy="417449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Asset Category &amp; Asset Type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879A7E-920A-0E73-FB3F-E53CF6E18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914" y="2741348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7019" y="-3167962"/>
            <a:ext cx="659026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 Category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 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asset classification efficiently </a:t>
            </a:r>
          </a:p>
        </p:txBody>
      </p:sp>
    </p:spTree>
    <p:extLst>
      <p:ext uri="{BB962C8B-B14F-4D97-AF65-F5344CB8AC3E}">
        <p14:creationId xmlns:p14="http://schemas.microsoft.com/office/powerpoint/2010/main" val="119169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A050-5FC9-486C-154D-FA5892D1A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91400" cy="599081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Currency Configuration – Standardization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02C71C-E05E-2633-1812-B242863F6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462" y="3375676"/>
            <a:ext cx="590847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508648"/>
            <a:ext cx="6577442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currency codes (e.g., USD, INR, EUR) and names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currency setup with company and regional operations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consistency in financial transactions and reporting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with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791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723D-3A28-0ECD-E35F-464EC0FF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70034" cy="464868"/>
          </a:xfrm>
        </p:spPr>
        <p:txBody>
          <a:bodyPr>
            <a:noAutofit/>
          </a:bodyPr>
          <a:lstStyle/>
          <a:p>
            <a:r>
              <a:rPr lang="fr-FR" sz="2500" u="sng" dirty="0">
                <a:solidFill>
                  <a:schemeClr val="tx1"/>
                </a:solidFill>
              </a:rPr>
              <a:t>Visa Type Configuration – Compliance Management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B31C68-0E94-982F-2241-24AAE6AF9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914" y="3394534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8475" y="-2954655"/>
            <a:ext cx="788549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visa types (e.g., Work Visa, Business Visa, Student Visa)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detailed descriptions for each visa type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configuration with company and regional compliance requirements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with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415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A316-3063-A5FE-3A27-87BA4F4EF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40040" cy="411353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Mode of Study Master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ED21CE-74F8-BAAA-E9A6-B1A1A4DE2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102" y="3294595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508648"/>
            <a:ext cx="8278677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 of Study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details (e.g., Full-Time, Part-Time, Distance Learning)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education modes efficiently </a:t>
            </a:r>
          </a:p>
        </p:txBody>
      </p:sp>
    </p:spTree>
    <p:extLst>
      <p:ext uri="{BB962C8B-B14F-4D97-AF65-F5344CB8AC3E}">
        <p14:creationId xmlns:p14="http://schemas.microsoft.com/office/powerpoint/2010/main" val="306503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BD14-2DA0-D1F7-E261-360A0673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49529" cy="476895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Account Type Master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EC46FD-3A59-E244-AD39-AE46B71F1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98" y="2856317"/>
            <a:ext cx="6096336" cy="4351338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2954651"/>
            <a:ext cx="680833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account types (e.g., Savings, Current, Salary Account)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detailed descriptions for each account type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configuration with company and regional requirements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management with full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functionality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704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E9AC-4EC3-E8FB-F6A9-DD71E837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46145" cy="490411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Project Master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E14F76-E6EA-D9E6-BEA7-03F3DA9D3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831" y="3275179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508646"/>
            <a:ext cx="6590266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Name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project information securely in the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(Create, Read, Update, Delete)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projects efficiently </a:t>
            </a:r>
          </a:p>
        </p:txBody>
      </p:sp>
    </p:spTree>
    <p:extLst>
      <p:ext uri="{BB962C8B-B14F-4D97-AF65-F5344CB8AC3E}">
        <p14:creationId xmlns:p14="http://schemas.microsoft.com/office/powerpoint/2010/main" val="310350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4521-8CE4-F52D-6DDF-55EB568F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54440" cy="788426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Salary Component Configuration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14CE41-43CC-F1F4-5A99-B5A3654BC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371" y="3773963"/>
            <a:ext cx="597980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4062651"/>
            <a:ext cx="10591361" cy="812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and manage salary components such as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Basic, HRA, Allowances, and Deductions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component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 method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applicability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company and region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control over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taxability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 status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each component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standardized and flexible salary structure across the organization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searchable list view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tracking and management of all configured components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efficient payroll processing with structured and compliant configurations </a:t>
            </a:r>
          </a:p>
        </p:txBody>
      </p:sp>
    </p:spTree>
    <p:extLst>
      <p:ext uri="{BB962C8B-B14F-4D97-AF65-F5344CB8AC3E}">
        <p14:creationId xmlns:p14="http://schemas.microsoft.com/office/powerpoint/2010/main" val="281032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0A72-B5B9-732E-5750-A69C6A04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16815" cy="661817"/>
          </a:xfrm>
        </p:spPr>
        <p:txBody>
          <a:bodyPr>
            <a:noAutofit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Salary Structure Management – Company &amp; Region Based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18BB74-28C9-D23A-8A72-2434CF140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632" y="3245954"/>
            <a:ext cx="5316572" cy="435133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5986" y="468815"/>
            <a:ext cx="8893946" cy="2949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Create and manage salary structures by defining </a:t>
            </a:r>
            <a:r>
              <a:rPr lang="en-US" b="1" dirty="0"/>
              <a:t>Structure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Map structures to </a:t>
            </a:r>
            <a:r>
              <a:rPr lang="en-US" b="1" dirty="0"/>
              <a:t>Department, Designation, and Grade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Associate configurations with specific </a:t>
            </a:r>
            <a:r>
              <a:rPr lang="en-US" b="1" dirty="0"/>
              <a:t>Company</a:t>
            </a:r>
            <a:r>
              <a:rPr lang="en-US" dirty="0"/>
              <a:t> and </a:t>
            </a:r>
            <a:r>
              <a:rPr lang="en-US" b="1" dirty="0"/>
              <a:t>Region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Add multiple </a:t>
            </a:r>
            <a:r>
              <a:rPr lang="en-US" b="1" dirty="0"/>
              <a:t>Salary Components</a:t>
            </a:r>
            <a:r>
              <a:rPr lang="en-US" dirty="0"/>
              <a:t> with defined values and calculation types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 consistent and standardized salary structures across the organization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Access a </a:t>
            </a:r>
            <a:r>
              <a:rPr lang="en-US" b="1" dirty="0"/>
              <a:t>searchable list view</a:t>
            </a:r>
            <a:r>
              <a:rPr lang="en-US" dirty="0"/>
              <a:t> for easy management and updates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efficient payroll processing and compliance </a:t>
            </a:r>
          </a:p>
        </p:txBody>
      </p:sp>
    </p:spTree>
    <p:extLst>
      <p:ext uri="{BB962C8B-B14F-4D97-AF65-F5344CB8AC3E}">
        <p14:creationId xmlns:p14="http://schemas.microsoft.com/office/powerpoint/2010/main" val="315955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6BE5-0B6B-0486-80D6-3E4173CC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908431" cy="436098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Salary Structure Assignment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3B30F-B867-402B-67B6-F762EDA29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830" y="2506662"/>
            <a:ext cx="6071427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00653"/>
            <a:ext cx="957396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salary structures to employees based 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Company, Region, and Effective Date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and manage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CTC (Cost to Company)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details for each employee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accurate alignment of salary structures with organizational policies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flexibility to update assignments based on role or location changes </a:t>
            </a:r>
          </a:p>
        </p:txBody>
      </p:sp>
    </p:spTree>
    <p:extLst>
      <p:ext uri="{BB962C8B-B14F-4D97-AF65-F5344CB8AC3E}">
        <p14:creationId xmlns:p14="http://schemas.microsoft.com/office/powerpoint/2010/main" val="31504088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3276-1305-492F-A6BD-C287F00B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880295" cy="464234"/>
          </a:xfrm>
        </p:spPr>
        <p:txBody>
          <a:bodyPr>
            <a:normAutofit fontScale="90000"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Monthly Payroll Processing</a:t>
            </a:r>
            <a:endParaRPr lang="en-IN" sz="25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589CF9-587E-2288-8A8B-593F680B9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648" y="2625646"/>
            <a:ext cx="6096336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00654"/>
            <a:ext cx="864659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payroll efficiently by selecting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 and Year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detailed employee data including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Days, Leaves, and Expenses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accurate salary calculations based on attendance and inputs </a:t>
            </a:r>
          </a:p>
        </p:txBody>
      </p:sp>
    </p:spTree>
    <p:extLst>
      <p:ext uri="{BB962C8B-B14F-4D97-AF65-F5344CB8AC3E}">
        <p14:creationId xmlns:p14="http://schemas.microsoft.com/office/powerpoint/2010/main" val="28569643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1B0D-35B9-EE04-662C-8D0DFF6A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923692" cy="520505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Company News Management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FD7595-112D-9875-BA6F-8008DEFC0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246" y="2649992"/>
            <a:ext cx="4724902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262154"/>
            <a:ext cx="1074960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and publish company news with details like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Title, Category, Department, and Publish Date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Attach relevant documents or files to enhance communication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timely sharing of important updates across the organization </a:t>
            </a:r>
          </a:p>
        </p:txBody>
      </p:sp>
    </p:spTree>
    <p:extLst>
      <p:ext uri="{BB962C8B-B14F-4D97-AF65-F5344CB8AC3E}">
        <p14:creationId xmlns:p14="http://schemas.microsoft.com/office/powerpoint/2010/main" val="3088084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E75B-5FB4-1DE6-B39A-9806AD7B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078437" cy="422031"/>
          </a:xfrm>
        </p:spPr>
        <p:txBody>
          <a:bodyPr>
            <a:normAutofit fontScale="90000"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Company Policy Management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B9D91A-B59D-D0B4-D327-7200296B9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706" y="2676720"/>
            <a:ext cx="5110857" cy="435133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2816152"/>
            <a:ext cx="721864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and manage company policies with details like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, Category, Department, and Effective Date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Attach relevant documents to ensure clarity and compliance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up-to-date policies aligned with organizational standards </a:t>
            </a:r>
          </a:p>
        </p:txBody>
      </p:sp>
    </p:spTree>
    <p:extLst>
      <p:ext uri="{BB962C8B-B14F-4D97-AF65-F5344CB8AC3E}">
        <p14:creationId xmlns:p14="http://schemas.microsoft.com/office/powerpoint/2010/main" val="22376139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84848-81F4-2A22-8C32-CAAD2F6A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866228" cy="450166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Company Events Management</a:t>
            </a:r>
            <a:endParaRPr lang="en-IN" sz="25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291ABD-E78B-02E0-B6A6-D3DB51458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371" y="2802083"/>
            <a:ext cx="5784593" cy="435133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3093151"/>
            <a:ext cx="8253221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and manage company events by defining details such as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Title, Date,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Time, Location, and Event Type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smooth planning and communication of organizational events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employees informed about upcoming activities and schedules </a:t>
            </a:r>
          </a:p>
        </p:txBody>
      </p:sp>
    </p:spTree>
    <p:extLst>
      <p:ext uri="{BB962C8B-B14F-4D97-AF65-F5344CB8AC3E}">
        <p14:creationId xmlns:p14="http://schemas.microsoft.com/office/powerpoint/2010/main" val="16726010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672" y="1467729"/>
            <a:ext cx="8944968" cy="3681046"/>
          </a:xfrm>
        </p:spPr>
        <p:txBody>
          <a:bodyPr>
            <a:normAutofit/>
          </a:bodyPr>
          <a:lstStyle/>
          <a:p>
            <a:r>
              <a:rPr lang="en-US" sz="6000" u="sng" dirty="0" smtClean="0">
                <a:solidFill>
                  <a:schemeClr val="tx1"/>
                </a:solidFill>
              </a:rPr>
              <a:t>USER SCREEN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2500" i="1" dirty="0"/>
              <a:t>Smart. Seamless. Scalable Workforce Management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Empowering organizations with intelligent HR automation and real-time insights</a:t>
            </a:r>
          </a:p>
        </p:txBody>
      </p:sp>
    </p:spTree>
    <p:extLst>
      <p:ext uri="{BB962C8B-B14F-4D97-AF65-F5344CB8AC3E}">
        <p14:creationId xmlns:p14="http://schemas.microsoft.com/office/powerpoint/2010/main" val="11056173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49772" cy="422031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Dashboard Overview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31" y="3447574"/>
            <a:ext cx="8516539" cy="34104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48640"/>
            <a:ext cx="8873218" cy="2949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Provides a comprehensive view of key employee metrics in a single screen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Displays real-time data for better monitoring and decision-making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Key </a:t>
            </a:r>
            <a:r>
              <a:rPr lang="en-US" b="1" dirty="0"/>
              <a:t>Highlights: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</a:t>
            </a:r>
            <a:r>
              <a:rPr lang="en-US" b="1" dirty="0"/>
              <a:t>Employee Count</a:t>
            </a:r>
            <a:r>
              <a:rPr lang="en-US" dirty="0"/>
              <a:t> for overall workforce visibility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Daily </a:t>
            </a:r>
            <a:r>
              <a:rPr lang="en-US" b="1" dirty="0"/>
              <a:t>Attendance Summary</a:t>
            </a:r>
            <a:r>
              <a:rPr lang="en-US" dirty="0"/>
              <a:t> including </a:t>
            </a:r>
            <a:r>
              <a:rPr lang="en-US" i="1" dirty="0"/>
              <a:t>Present, Absent, and Leave</a:t>
            </a:r>
            <a:r>
              <a:rPr lang="en-US" dirty="0"/>
              <a:t> status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Overview of </a:t>
            </a:r>
            <a:r>
              <a:rPr lang="en-US" b="1" dirty="0"/>
              <a:t>Timesheet Entries</a:t>
            </a:r>
            <a:r>
              <a:rPr lang="en-US" dirty="0"/>
              <a:t> to track work hours and productivity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Snapshot of </a:t>
            </a:r>
            <a:r>
              <a:rPr lang="en-US" b="1" dirty="0"/>
              <a:t>Help Desk Requests</a:t>
            </a:r>
            <a:r>
              <a:rPr lang="en-US" dirty="0"/>
              <a:t> for issue tracking and resolution </a:t>
            </a:r>
          </a:p>
        </p:txBody>
      </p:sp>
    </p:spTree>
    <p:extLst>
      <p:ext uri="{BB962C8B-B14F-4D97-AF65-F5344CB8AC3E}">
        <p14:creationId xmlns:p14="http://schemas.microsoft.com/office/powerpoint/2010/main" val="478870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71803" cy="506437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Profile (Read-Only View)</a:t>
            </a:r>
          </a:p>
        </p:txBody>
      </p:sp>
      <p:pic>
        <p:nvPicPr>
          <p:cNvPr id="4" name="object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42" y="3440748"/>
            <a:ext cx="7207806" cy="45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-1" y="506437"/>
            <a:ext cx="8834511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core employee information in a structured format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Serves as the </a:t>
            </a:r>
            <a:r>
              <a:rPr lang="en-US" b="1" dirty="0"/>
              <a:t>primary record</a:t>
            </a:r>
            <a:r>
              <a:rPr lang="en-US" dirty="0"/>
              <a:t> for each employee within the system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data consistency and prevents unauthorized modifications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 &amp; Employee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Email Address &amp; Contact Information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Professional and Organizational Details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452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70277" cy="393895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Digital Business Card</a:t>
            </a:r>
          </a:p>
        </p:txBody>
      </p:sp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37" y="3525155"/>
            <a:ext cx="7863840" cy="3803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393896"/>
            <a:ext cx="93409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employees with a </a:t>
            </a:r>
            <a:r>
              <a:rPr lang="en-US" b="1" dirty="0"/>
              <a:t>virtual business card</a:t>
            </a:r>
            <a:r>
              <a:rPr lang="en-US" dirty="0"/>
              <a:t> for easy sharing and professional representation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Enhances communication and accessibility within and outside the organization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Details Included: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Company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Email Address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Contact Number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Profile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4704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825"/>
            <a:ext cx="8553157" cy="417341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Personal Details</a:t>
            </a:r>
          </a:p>
        </p:txBody>
      </p:sp>
      <p:pic>
        <p:nvPicPr>
          <p:cNvPr id="4" name="object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84" y="3815639"/>
            <a:ext cx="7953788" cy="745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450166"/>
            <a:ext cx="9340948" cy="336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comprehensive </a:t>
            </a:r>
            <a:r>
              <a:rPr lang="en-US" b="1" dirty="0"/>
              <a:t>personal and demographic information</a:t>
            </a:r>
            <a:r>
              <a:rPr lang="en-US" dirty="0"/>
              <a:t> of employees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Serves as the foundation for maintaining accurate employee records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efficient HR operations and compliance requirements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Basic details such as </a:t>
            </a:r>
            <a:r>
              <a:rPr lang="en-US" b="1" dirty="0"/>
              <a:t>Name, Gender, and Date of Birth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Contact Information</a:t>
            </a:r>
            <a:r>
              <a:rPr lang="en-US" dirty="0"/>
              <a:t> including address and phone details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Identity Details</a:t>
            </a:r>
            <a:r>
              <a:rPr lang="en-US" dirty="0"/>
              <a:t> for verification and record-keeping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Additional fields to capture complete employee profile data</a:t>
            </a:r>
          </a:p>
        </p:txBody>
      </p:sp>
    </p:spTree>
    <p:extLst>
      <p:ext uri="{BB962C8B-B14F-4D97-AF65-F5344CB8AC3E}">
        <p14:creationId xmlns:p14="http://schemas.microsoft.com/office/powerpoint/2010/main" val="11883418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"/>
            <a:ext cx="8595360" cy="586154"/>
          </a:xfrm>
        </p:spPr>
        <p:txBody>
          <a:bodyPr>
            <a:normAutofit/>
          </a:bodyPr>
          <a:lstStyle/>
          <a:p>
            <a:r>
              <a:rPr lang="en-US" sz="2500" b="1" u="sng" smtClean="0">
                <a:solidFill>
                  <a:schemeClr val="tx1"/>
                </a:solidFill>
              </a:rPr>
              <a:t>Employee Details Module – Family Details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83" y="3822295"/>
            <a:ext cx="8707902" cy="6071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520732"/>
            <a:ext cx="9158068" cy="336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Stores information about </a:t>
            </a:r>
            <a:r>
              <a:rPr lang="en-US" b="1" dirty="0"/>
              <a:t>employee’s family members</a:t>
            </a:r>
            <a:r>
              <a:rPr lang="en-US" dirty="0"/>
              <a:t> for official records and benefits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Allows adding </a:t>
            </a:r>
            <a:r>
              <a:rPr lang="en-US" b="1" dirty="0"/>
              <a:t>multiple family member records</a:t>
            </a:r>
            <a:r>
              <a:rPr lang="en-US" dirty="0"/>
              <a:t> for each employee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accurate and complete employee-related documentation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Family Member Name &amp; Relationship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 of Birth &amp; Contact Details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Additional details required for benefits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19944358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09428" cy="422031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Emergency Contact Details</a:t>
            </a:r>
          </a:p>
        </p:txBody>
      </p:sp>
      <p:pic>
        <p:nvPicPr>
          <p:cNvPr id="4" name="object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67" y="3085482"/>
            <a:ext cx="8719884" cy="4236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393895"/>
            <a:ext cx="9397218" cy="2534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Maintains </a:t>
            </a:r>
            <a:r>
              <a:rPr lang="en-US" b="1" dirty="0"/>
              <a:t>emergency contact information</a:t>
            </a:r>
            <a:r>
              <a:rPr lang="en-US" dirty="0"/>
              <a:t> for employee safety and quick response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the organization can reach the right person during emergencies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Contact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Phone Number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Relationship with Employee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423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68751" cy="450166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Referral Contact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45" y="3317429"/>
            <a:ext cx="8719884" cy="44180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30803"/>
            <a:ext cx="942535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</a:t>
            </a:r>
            <a:r>
              <a:rPr lang="en-US" b="1" dirty="0"/>
              <a:t>referral information</a:t>
            </a:r>
            <a:r>
              <a:rPr lang="en-US" dirty="0"/>
              <a:t> when an employee is recommended by an internal or external source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track and manage </a:t>
            </a:r>
            <a:r>
              <a:rPr lang="en-US" b="1" dirty="0"/>
              <a:t>employee referral programs</a:t>
            </a:r>
            <a:r>
              <a:rPr lang="en-US" dirty="0"/>
              <a:t> effectively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Referrer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Contact Details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47026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5360" cy="520505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Job History</a:t>
            </a:r>
          </a:p>
        </p:txBody>
      </p:sp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58" y="3470481"/>
            <a:ext cx="8359602" cy="652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520506"/>
            <a:ext cx="9397218" cy="2949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Maintains a record of </a:t>
            </a:r>
            <a:r>
              <a:rPr lang="en-US" b="1" dirty="0"/>
              <a:t>employee’s previous work experience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in understanding professional background and career progression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HR in decision-making and profile evaluation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Company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Designation / Role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Employment Duration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968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26548" cy="450166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Certifications</a:t>
            </a:r>
          </a:p>
        </p:txBody>
      </p:sp>
      <p:pic>
        <p:nvPicPr>
          <p:cNvPr id="5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90" y="3400141"/>
            <a:ext cx="8359602" cy="616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50055" y="450166"/>
            <a:ext cx="9415976" cy="2949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and manages employee </a:t>
            </a:r>
            <a:r>
              <a:rPr lang="en-US" b="1" dirty="0"/>
              <a:t>certification details</a:t>
            </a:r>
            <a:r>
              <a:rPr lang="en-US" dirty="0"/>
              <a:t> to track skills and qualifications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in maintaining up-to-date records of professional achievements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Certification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Certification Type</a:t>
            </a:r>
            <a:r>
              <a:rPr lang="en-US" dirty="0"/>
              <a:t> (e.g., Technical, Professional, Compliance)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Description</a:t>
            </a:r>
            <a:r>
              <a:rPr lang="en-US" dirty="0"/>
              <a:t> of the certification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Document Upload</a:t>
            </a:r>
            <a:r>
              <a:rPr lang="en-US" dirty="0"/>
              <a:t> for proof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1424388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757"/>
            <a:ext cx="8567225" cy="501748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Education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098" y="576776"/>
            <a:ext cx="9439422" cy="4992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complete </a:t>
            </a:r>
            <a:r>
              <a:rPr lang="en-US" b="1" dirty="0"/>
              <a:t>educational qualifications</a:t>
            </a:r>
            <a:r>
              <a:rPr lang="en-US" dirty="0"/>
              <a:t> of employees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maintain accurate academic records for verification and career development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Qualification / Degree</a:t>
            </a:r>
            <a:r>
              <a:rPr lang="en-US" dirty="0"/>
              <a:t> and </a:t>
            </a:r>
            <a:r>
              <a:rPr lang="en-US" b="1" dirty="0"/>
              <a:t>Specialization / Major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Institution / University</a:t>
            </a:r>
            <a:r>
              <a:rPr lang="en-US" dirty="0"/>
              <a:t> and </a:t>
            </a:r>
            <a:r>
              <a:rPr lang="en-US" b="1" dirty="0"/>
              <a:t>Board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Start Date</a:t>
            </a:r>
            <a:r>
              <a:rPr lang="en-US" dirty="0"/>
              <a:t> and </a:t>
            </a:r>
            <a:r>
              <a:rPr lang="en-US" b="1" dirty="0"/>
              <a:t>End Date / Year of Passing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Percentage / CGPA / Grade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Mode of Study</a:t>
            </a:r>
            <a:r>
              <a:rPr lang="en-US" dirty="0"/>
              <a:t> (e.g., Full-Time, Part-Time, Distance)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Certificate / Document Upload</a:t>
            </a:r>
            <a:r>
              <a:rPr lang="en-US" dirty="0"/>
              <a:t> for validation</a:t>
            </a:r>
          </a:p>
        </p:txBody>
      </p:sp>
    </p:spTree>
    <p:extLst>
      <p:ext uri="{BB962C8B-B14F-4D97-AF65-F5344CB8AC3E}">
        <p14:creationId xmlns:p14="http://schemas.microsoft.com/office/powerpoint/2010/main" val="23516586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1" y="253463"/>
            <a:ext cx="8614616" cy="7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2618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15865" cy="492369"/>
          </a:xfrm>
        </p:spPr>
        <p:txBody>
          <a:bodyPr>
            <a:normAutofit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Employee Details Module – Document Management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6948" y="534572"/>
            <a:ext cx="8918917" cy="5858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Manages and stores </a:t>
            </a:r>
            <a:r>
              <a:rPr lang="en-US" b="1" dirty="0"/>
              <a:t>employee-related documents</a:t>
            </a:r>
            <a:r>
              <a:rPr lang="en-US" dirty="0"/>
              <a:t> in a centralized system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secure handling and easy access to important records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Document Type</a:t>
            </a:r>
            <a:r>
              <a:rPr lang="en-US" dirty="0"/>
              <a:t> and </a:t>
            </a:r>
            <a:r>
              <a:rPr lang="en-US" b="1" dirty="0"/>
              <a:t>Document Title /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and </a:t>
            </a:r>
            <a:r>
              <a:rPr lang="en-US" b="1" dirty="0"/>
              <a:t>Employee Code / ID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Issued Date</a:t>
            </a:r>
            <a:r>
              <a:rPr lang="en-US" dirty="0"/>
              <a:t> and </a:t>
            </a:r>
            <a:r>
              <a:rPr lang="en-US" b="1" dirty="0"/>
              <a:t>Validity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File Upload</a:t>
            </a:r>
            <a:r>
              <a:rPr lang="en-US" dirty="0"/>
              <a:t> for document storage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Remarks / Notes</a:t>
            </a:r>
            <a:r>
              <a:rPr lang="en-US" dirty="0"/>
              <a:t> for additional information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Option to </a:t>
            </a:r>
            <a:r>
              <a:rPr lang="en-US" b="1" dirty="0"/>
              <a:t>Mark as Confidential</a:t>
            </a:r>
            <a:r>
              <a:rPr lang="en-US" dirty="0"/>
              <a:t> for sensitive documents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Secure and organized document repository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Easy to </a:t>
            </a:r>
            <a:r>
              <a:rPr lang="en-US" b="1" dirty="0"/>
              <a:t>upload, view, and manage</a:t>
            </a:r>
            <a:r>
              <a:rPr lang="en-US" dirty="0"/>
              <a:t> employee documents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Confidential access control for sensitive files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compliance, audits, and verification processes</a:t>
            </a:r>
          </a:p>
        </p:txBody>
      </p:sp>
    </p:spTree>
    <p:extLst>
      <p:ext uri="{BB962C8B-B14F-4D97-AF65-F5344CB8AC3E}">
        <p14:creationId xmlns:p14="http://schemas.microsoft.com/office/powerpoint/2010/main" val="2218806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42" y="208559"/>
            <a:ext cx="8670042" cy="5756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42587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94801" cy="923778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Forms &amp; Document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004" y="813581"/>
            <a:ext cx="95425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submit and manage forms and documents</a:t>
            </a:r>
            <a:r>
              <a:rPr lang="en-US" dirty="0"/>
              <a:t> efficiently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record-keeping and streamlined document handling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Form / Document Type</a:t>
            </a:r>
            <a:r>
              <a:rPr lang="en-US" dirty="0"/>
              <a:t> and </a:t>
            </a:r>
            <a:r>
              <a:rPr lang="en-US" b="1" dirty="0"/>
              <a:t>Form / Document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and </a:t>
            </a:r>
            <a:r>
              <a:rPr lang="en-US" b="1" dirty="0"/>
              <a:t>Employee Code / ID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Issued / Submitted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File Upload</a:t>
            </a:r>
            <a:r>
              <a:rPr lang="en-US" dirty="0"/>
              <a:t> (PDF, DOC, DOCX, JPG, PNG – Max 5 MB)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Remarks / Notes</a:t>
            </a:r>
            <a:r>
              <a:rPr lang="en-US" dirty="0"/>
              <a:t> for additional details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Option to </a:t>
            </a:r>
            <a:r>
              <a:rPr lang="en-US" b="1" dirty="0"/>
              <a:t>Mark as Confidential</a:t>
            </a:r>
            <a:r>
              <a:rPr lang="en-US" dirty="0"/>
              <a:t> for sensitive information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Secure and centralized document submission process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multiple file formats with size validation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Easy to </a:t>
            </a:r>
            <a:r>
              <a:rPr lang="en-US" b="1" dirty="0"/>
              <a:t>upload, view, and manage</a:t>
            </a:r>
            <a:r>
              <a:rPr lang="en-US" dirty="0"/>
              <a:t> submitted documents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Confidential access control for sensitive records </a:t>
            </a:r>
          </a:p>
        </p:txBody>
      </p:sp>
    </p:spTree>
    <p:extLst>
      <p:ext uri="{BB962C8B-B14F-4D97-AF65-F5344CB8AC3E}">
        <p14:creationId xmlns:p14="http://schemas.microsoft.com/office/powerpoint/2010/main" val="2859363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9" y="351693"/>
            <a:ext cx="8337813" cy="5684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60424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10954" cy="492369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Document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274" y="246184"/>
            <a:ext cx="914868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Manages and stores essential </a:t>
            </a:r>
            <a:r>
              <a:rPr lang="en-US" b="1" dirty="0"/>
              <a:t>employee document records</a:t>
            </a:r>
            <a:r>
              <a:rPr lang="en-US" dirty="0"/>
              <a:t> in a secure and organized manner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tracking of document validity and compliance requirements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Document Type</a:t>
            </a:r>
            <a:r>
              <a:rPr lang="en-US" dirty="0"/>
              <a:t> and </a:t>
            </a:r>
            <a:r>
              <a:rPr lang="en-US" b="1" dirty="0"/>
              <a:t>Document Name / Title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Document Number</a:t>
            </a:r>
            <a:r>
              <a:rPr lang="en-US" dirty="0"/>
              <a:t> for identification and reference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Issued Date</a:t>
            </a:r>
            <a:r>
              <a:rPr lang="en-US" dirty="0"/>
              <a:t> and </a:t>
            </a:r>
            <a:r>
              <a:rPr lang="en-US" b="1" dirty="0"/>
              <a:t>Expiry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File Upload</a:t>
            </a:r>
            <a:r>
              <a:rPr lang="en-US" dirty="0"/>
              <a:t> (PDF, JPG, PNG – Max 5 MB)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Remarks / Notes</a:t>
            </a:r>
            <a:r>
              <a:rPr lang="en-US" dirty="0"/>
              <a:t> for additional details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Option to </a:t>
            </a:r>
            <a:r>
              <a:rPr lang="en-US" b="1" dirty="0"/>
              <a:t>Mark as Confidential</a:t>
            </a:r>
            <a:r>
              <a:rPr lang="en-US" dirty="0"/>
              <a:t> for sensitive documents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Centralized and secure document repository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Tracks document </a:t>
            </a:r>
            <a:r>
              <a:rPr lang="en-US" b="1" dirty="0"/>
              <a:t>validity and expiration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Easy to </a:t>
            </a:r>
            <a:r>
              <a:rPr lang="en-US" b="1" dirty="0"/>
              <a:t>upload, view, and manage</a:t>
            </a:r>
            <a:r>
              <a:rPr lang="en-US" dirty="0"/>
              <a:t> records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Confidential access control for sensitive information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compliance and audit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539930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4" y="900528"/>
            <a:ext cx="9884192" cy="4698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3041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637563" cy="844062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Letters &amp; Forms List (View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731" y="521905"/>
            <a:ext cx="8698523" cy="627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a structured list of all </a:t>
            </a:r>
            <a:r>
              <a:rPr lang="en-US" b="1" dirty="0"/>
              <a:t>issued letters and submitted forms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</a:t>
            </a:r>
            <a:r>
              <a:rPr lang="en-US" b="1" dirty="0"/>
              <a:t>read-only view</a:t>
            </a:r>
            <a:r>
              <a:rPr lang="en-US" dirty="0"/>
              <a:t> for easy reference and tracking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Letters List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S. No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Document Type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Document Title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Code &amp;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Issued Date</a:t>
            </a:r>
            <a:r>
              <a:rPr lang="en-US" dirty="0"/>
              <a:t> and </a:t>
            </a:r>
            <a:r>
              <a:rPr lang="en-US" b="1" dirty="0"/>
              <a:t>Validity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File Attachment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Forms List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S. No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Type</a:t>
            </a:r>
            <a:r>
              <a:rPr lang="en-US" dirty="0"/>
              <a:t> and </a:t>
            </a:r>
            <a:r>
              <a:rPr lang="en-US" b="1" dirty="0"/>
              <a:t>Form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 &amp;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File Attachment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1051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" y="500408"/>
            <a:ext cx="9335548" cy="4463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2983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39089" cy="464234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Bank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612" y="464234"/>
            <a:ext cx="722141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and manages </a:t>
            </a:r>
            <a:r>
              <a:rPr lang="en-US" b="1" dirty="0"/>
              <a:t>employee bank account information</a:t>
            </a:r>
            <a:r>
              <a:rPr lang="en-US" dirty="0"/>
              <a:t> for payroll processing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accurate and secure salary disbursement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Bank Name</a:t>
            </a:r>
            <a:r>
              <a:rPr lang="en-US" dirty="0"/>
              <a:t> and </a:t>
            </a:r>
            <a:r>
              <a:rPr lang="en-US" b="1" dirty="0"/>
              <a:t>Branch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Account Holder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Account Number</a:t>
            </a:r>
            <a:r>
              <a:rPr lang="en-US" dirty="0"/>
              <a:t> and </a:t>
            </a:r>
            <a:r>
              <a:rPr lang="en-US" b="1" dirty="0"/>
              <a:t>Account Type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IFSC Code</a:t>
            </a:r>
            <a:r>
              <a:rPr lang="en-US" dirty="0"/>
              <a:t> and </a:t>
            </a:r>
            <a:r>
              <a:rPr lang="en-US" b="1" dirty="0"/>
              <a:t>MICR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UPI ID</a:t>
            </a:r>
            <a:r>
              <a:rPr lang="en-US" dirty="0"/>
              <a:t> (for digital transactions)</a:t>
            </a:r>
          </a:p>
        </p:txBody>
      </p:sp>
    </p:spTree>
    <p:extLst>
      <p:ext uri="{BB962C8B-B14F-4D97-AF65-F5344CB8AC3E}">
        <p14:creationId xmlns:p14="http://schemas.microsoft.com/office/powerpoint/2010/main" val="4616709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49" y="277112"/>
            <a:ext cx="9231670" cy="432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49797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67225" cy="562708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Details Module – Demand Draft (DD)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477" y="562709"/>
            <a:ext cx="848750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and manages </a:t>
            </a:r>
            <a:r>
              <a:rPr lang="en-US" b="1" dirty="0"/>
              <a:t>Demand Draft (DD) payment information</a:t>
            </a:r>
            <a:r>
              <a:rPr lang="en-US" dirty="0"/>
              <a:t> for financial transactions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tracking and documentation of DD-based payments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DD Number</a:t>
            </a:r>
            <a:r>
              <a:rPr lang="en-US" dirty="0"/>
              <a:t> and </a:t>
            </a:r>
            <a:r>
              <a:rPr lang="en-US" b="1" dirty="0"/>
              <a:t>DD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Bank Name</a:t>
            </a:r>
            <a:r>
              <a:rPr lang="en-US" dirty="0"/>
              <a:t> and </a:t>
            </a:r>
            <a:r>
              <a:rPr lang="en-US" b="1" dirty="0"/>
              <a:t>Branch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Amount (INR)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Payee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DD Copy Upload</a:t>
            </a:r>
            <a:r>
              <a:rPr lang="en-US" dirty="0"/>
              <a:t> for record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0656279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40" y="407963"/>
            <a:ext cx="8922402" cy="410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38146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806375" cy="844062"/>
          </a:xfrm>
        </p:spPr>
        <p:txBody>
          <a:bodyPr>
            <a:normAutofit fontScale="90000"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Employee Details Module – Tax </a:t>
            </a:r>
            <a:r>
              <a:rPr lang="en-US" sz="2500" b="1" u="sng" dirty="0" err="1" smtClean="0">
                <a:solidFill>
                  <a:schemeClr val="tx1"/>
                </a:solidFill>
              </a:rPr>
              <a:t>InformationEmployee</a:t>
            </a:r>
            <a:r>
              <a:rPr lang="en-US" sz="2500" b="1" u="sng" dirty="0" smtClean="0">
                <a:solidFill>
                  <a:schemeClr val="tx1"/>
                </a:solidFill>
              </a:rPr>
              <a:t> Details Module – Tax Information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3952" y="844062"/>
            <a:ext cx="8979876" cy="5699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employee </a:t>
            </a:r>
            <a:r>
              <a:rPr lang="en-US" b="1" dirty="0"/>
              <a:t>tax-related details</a:t>
            </a:r>
            <a:r>
              <a:rPr lang="en-US" dirty="0"/>
              <a:t> required for payroll and compliance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accurate calculation of </a:t>
            </a:r>
            <a:r>
              <a:rPr lang="en-US" b="1" dirty="0"/>
              <a:t>tax deductions and statutory filings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(First, Middle Initial, Last Name)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SSN / Tax Identification Number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Address Details</a:t>
            </a:r>
            <a:r>
              <a:rPr lang="en-US" dirty="0"/>
              <a:t> (City, State, ZIP Code)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Filing Status</a:t>
            </a:r>
            <a:r>
              <a:rPr lang="en-US" dirty="0"/>
              <a:t> and </a:t>
            </a:r>
            <a:r>
              <a:rPr lang="en-US" b="1" dirty="0"/>
              <a:t>Multiple Jobs / Spouse Work Details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Dependents and Dependent Amounts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Other Income, Deductions, and Extra Withholding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Signature</a:t>
            </a:r>
            <a:r>
              <a:rPr lang="en-US" dirty="0"/>
              <a:t> and </a:t>
            </a:r>
            <a:r>
              <a:rPr lang="en-US" b="1" dirty="0"/>
              <a:t>Date</a:t>
            </a:r>
            <a:r>
              <a:rPr lang="en-US" dirty="0"/>
              <a:t> for declaration</a:t>
            </a:r>
          </a:p>
        </p:txBody>
      </p:sp>
    </p:spTree>
    <p:extLst>
      <p:ext uri="{BB962C8B-B14F-4D97-AF65-F5344CB8AC3E}">
        <p14:creationId xmlns:p14="http://schemas.microsoft.com/office/powerpoint/2010/main" val="26087184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11" y="402785"/>
            <a:ext cx="8088923" cy="539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57479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25022" cy="562708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Separation – Resignation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018" y="562709"/>
            <a:ext cx="875479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Facilitates employees to </a:t>
            </a:r>
            <a:r>
              <a:rPr lang="en-US" b="1" dirty="0"/>
              <a:t>submit resignation details</a:t>
            </a:r>
            <a:r>
              <a:rPr lang="en-US" dirty="0"/>
              <a:t> in a structured manner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HR to efficiently manage and track the </a:t>
            </a:r>
            <a:r>
              <a:rPr lang="en-US" b="1" dirty="0"/>
              <a:t>employee exit process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Information Includes: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Code</a:t>
            </a:r>
            <a:r>
              <a:rPr lang="en-US" dirty="0"/>
              <a:t> and </a:t>
            </a: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Resignation Type</a:t>
            </a:r>
            <a:r>
              <a:rPr lang="en-US" dirty="0"/>
              <a:t> (e.g., Voluntary, Involuntary)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Notice Period</a:t>
            </a:r>
            <a:r>
              <a:rPr lang="en-US" dirty="0"/>
              <a:t> and </a:t>
            </a:r>
            <a:r>
              <a:rPr lang="en-US" b="1" dirty="0"/>
              <a:t>Last Working Day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Resignation Reason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 and tracking</a:t>
            </a:r>
          </a:p>
        </p:txBody>
      </p:sp>
    </p:spTree>
    <p:extLst>
      <p:ext uri="{BB962C8B-B14F-4D97-AF65-F5344CB8AC3E}">
        <p14:creationId xmlns:p14="http://schemas.microsoft.com/office/powerpoint/2010/main" val="4642136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332666"/>
            <a:ext cx="7695027" cy="6239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6005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68751" cy="520505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Resignation Requests – Manager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520505"/>
            <a:ext cx="782632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managers to </a:t>
            </a:r>
            <a:r>
              <a:rPr lang="en-US" b="1" dirty="0"/>
              <a:t>review and take action</a:t>
            </a:r>
            <a:r>
              <a:rPr lang="en-US" dirty="0"/>
              <a:t> on employee resignation requests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complete visibility into resignation details and approval status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Resignation Type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Notice Period</a:t>
            </a:r>
            <a:r>
              <a:rPr lang="en-US" dirty="0"/>
              <a:t> and </a:t>
            </a:r>
            <a:r>
              <a:rPr lang="en-US" b="1" dirty="0"/>
              <a:t>Last Working Day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Resignation Reason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(Approved / Rejected / Pending)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Manager Comments</a:t>
            </a:r>
            <a:r>
              <a:rPr lang="en-US" dirty="0"/>
              <a:t> and </a:t>
            </a:r>
            <a:r>
              <a:rPr lang="en-US" b="1" dirty="0"/>
              <a:t>Action Taken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2468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63" y="759655"/>
            <a:ext cx="9092846" cy="436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49679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694057" cy="406400"/>
          </a:xfrm>
        </p:spPr>
        <p:txBody>
          <a:bodyPr>
            <a:normAutofit fontScale="90000"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Employee Details Module – Personal &amp; Visa Information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406400"/>
            <a:ext cx="8752114" cy="5858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Captures comprehensive </a:t>
            </a:r>
            <a:r>
              <a:rPr lang="en-US" b="1" dirty="0"/>
              <a:t>personal, passport, and visa/work permit details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compliance with </a:t>
            </a:r>
            <a:r>
              <a:rPr lang="en-US" b="1" dirty="0"/>
              <a:t>international employment and legal requirements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Personal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Full Name, Employee ID /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 of Birth and Nationality / Citizenship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Passport Number and Expiry Date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Visa / Work Permit Details: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Visa Type and Visa / Permit Number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Issuing Country, Issue Date, and Expiry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Work Authorization / Permit Status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Employer / Sponsorship Details: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Employer / Sponsor Name and Address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/ Contact Person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Employer Contact Email / Phone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4723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75" y="321090"/>
            <a:ext cx="7807570" cy="5502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98350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09428" cy="506437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Attendance Management – Clock In / Clock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356" y="506437"/>
            <a:ext cx="8515643" cy="5078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Tracks daily </a:t>
            </a:r>
            <a:r>
              <a:rPr lang="en-US" b="1" dirty="0"/>
              <a:t>employee attendance</a:t>
            </a:r>
            <a:r>
              <a:rPr lang="en-US" dirty="0"/>
              <a:t> with real-time clock-in and clock-out details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visibility into working hours and shift adherence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Employee Details: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Code:</a:t>
            </a:r>
            <a:r>
              <a:rPr lang="en-US" dirty="0"/>
              <a:t> EMP0001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Name:</a:t>
            </a:r>
            <a:r>
              <a:rPr lang="en-US" dirty="0"/>
              <a:t> </a:t>
            </a:r>
            <a:r>
              <a:rPr lang="en-US" dirty="0" err="1"/>
              <a:t>Durga</a:t>
            </a:r>
            <a:r>
              <a:rPr lang="en-US" dirty="0"/>
              <a:t> Prasad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Date:</a:t>
            </a:r>
            <a:r>
              <a:rPr lang="en-US" dirty="0"/>
              <a:t> 20 Apr 2026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Shift Timings:</a:t>
            </a:r>
            <a:r>
              <a:rPr lang="en-US" dirty="0"/>
              <a:t> Day Shift (09:00 AM – 06:00 PM)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Attendance Summary: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Clock In Time:</a:t>
            </a:r>
            <a:r>
              <a:rPr lang="en-US" dirty="0"/>
              <a:t> 09:12 AM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Clock Out Time:</a:t>
            </a:r>
            <a:r>
              <a:rPr lang="en-US" dirty="0"/>
              <a:t> --:-- </a:t>
            </a:r>
            <a:r>
              <a:rPr lang="en-US" i="1" dirty="0"/>
              <a:t>(Not yet recorded)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Duration of Day:</a:t>
            </a:r>
            <a:r>
              <a:rPr lang="en-US" dirty="0"/>
              <a:t> --:-- </a:t>
            </a:r>
            <a:r>
              <a:rPr lang="en-US" i="1" dirty="0"/>
              <a:t>(Calculated after clock-out)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2063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50" y="857102"/>
            <a:ext cx="8727484" cy="415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76476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57735" cy="478302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Attendance Management – Shift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357" y="645164"/>
            <a:ext cx="8543778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assigning </a:t>
            </a:r>
            <a:r>
              <a:rPr lang="en-US" b="1" dirty="0"/>
              <a:t>work shifts to employees</a:t>
            </a:r>
            <a:r>
              <a:rPr lang="en-US" dirty="0"/>
              <a:t> for effective attendance tracking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alignment of employees with organizational schedules </a:t>
            </a:r>
          </a:p>
          <a:p>
            <a:pPr>
              <a:lnSpc>
                <a:spcPct val="25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and </a:t>
            </a:r>
            <a:r>
              <a:rPr lang="en-US" b="1" dirty="0"/>
              <a:t>Employee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Shift Selection</a:t>
            </a:r>
            <a:r>
              <a:rPr lang="en-US" dirty="0"/>
              <a:t> (e.g., Day Shift, Night Shift)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Start Date</a:t>
            </a:r>
            <a:r>
              <a:rPr lang="en-US" dirty="0"/>
              <a:t> and </a:t>
            </a:r>
            <a:r>
              <a:rPr lang="en-US" b="1" dirty="0"/>
              <a:t>End Date</a:t>
            </a:r>
            <a:r>
              <a:rPr lang="en-US" dirty="0"/>
              <a:t> of the assignment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Active Assignment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964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46" y="554599"/>
            <a:ext cx="9324815" cy="435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44577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25022" cy="492369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Attendance Management – WFH / Remote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476" y="492368"/>
            <a:ext cx="750276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request Work From Home (WFH) or remote work</a:t>
            </a:r>
            <a:r>
              <a:rPr lang="en-US" dirty="0"/>
              <a:t> in a structured manner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approval workflow and record management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From Date</a:t>
            </a:r>
            <a:r>
              <a:rPr lang="en-US" dirty="0"/>
              <a:t> and </a:t>
            </a:r>
            <a:r>
              <a:rPr lang="en-US" b="1" dirty="0"/>
              <a:t>To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Request Type</a:t>
            </a:r>
            <a:r>
              <a:rPr lang="en-US" dirty="0"/>
              <a:t> (WFH / Remote)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Supporting Document Upload</a:t>
            </a:r>
            <a:r>
              <a:rPr lang="en-US" dirty="0"/>
              <a:t> </a:t>
            </a:r>
            <a:r>
              <a:rPr lang="en-US" i="1" dirty="0"/>
              <a:t>(if required)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 / Remarks</a:t>
            </a:r>
            <a:r>
              <a:rPr lang="en-US" dirty="0"/>
              <a:t> for the request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5061499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69" y="366029"/>
            <a:ext cx="7202659" cy="5574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9897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637563" cy="492369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WFH / Remote Requests – Pending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6491" y="492368"/>
            <a:ext cx="8417171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all </a:t>
            </a:r>
            <a:r>
              <a:rPr lang="en-US" b="1" dirty="0"/>
              <a:t>pending Work From Home (WFH) / Remote requests</a:t>
            </a:r>
            <a:r>
              <a:rPr lang="en-US" dirty="0"/>
              <a:t> for manager review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clear overview of request details and current status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From Date</a:t>
            </a:r>
            <a:r>
              <a:rPr lang="en-US" dirty="0"/>
              <a:t> and </a:t>
            </a:r>
            <a:r>
              <a:rPr lang="en-US" b="1" dirty="0"/>
              <a:t>To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Request Type</a:t>
            </a:r>
            <a:r>
              <a:rPr lang="en-US" dirty="0"/>
              <a:t> (WFH / Remote)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 for Request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(Pending / Approved / Rejected)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Manager Remarks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Current Status: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 pending approvals </a:t>
            </a:r>
            <a:r>
              <a:rPr lang="en-US" i="1" dirty="0"/>
              <a:t>(“No pending approvals” message displayed when no records exist)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99958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7" y="174308"/>
            <a:ext cx="7469945" cy="626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04801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10954" cy="534572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Attendance Management – Missed Punch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274" y="534572"/>
            <a:ext cx="781225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Allows employees to </a:t>
            </a:r>
            <a:r>
              <a:rPr lang="en-US" b="1" dirty="0"/>
              <a:t>request corrections for missed clock-in or clock-out entries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accurate attendance records and payroll processing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</a:t>
            </a:r>
            <a:r>
              <a:rPr lang="en-US" dirty="0"/>
              <a:t> of missed punch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Missed Type</a:t>
            </a:r>
            <a:r>
              <a:rPr lang="en-US" dirty="0"/>
              <a:t> (Clock In / Clock Out)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Correct Clock In and Clock Out Time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</a:t>
            </a:r>
            <a:r>
              <a:rPr lang="en-US" dirty="0"/>
              <a:t> for missed punch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2812409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72" y="249678"/>
            <a:ext cx="8032653" cy="623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2387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393895"/>
          </a:xfrm>
        </p:spPr>
        <p:txBody>
          <a:bodyPr>
            <a:normAutofit fontScale="90000"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Attendance Management – Pending Approvals (Missed Punch)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1408" y="393894"/>
            <a:ext cx="8842593" cy="627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</a:t>
            </a:r>
            <a:r>
              <a:rPr lang="en-US" b="1" dirty="0"/>
              <a:t>pending missed punch requests</a:t>
            </a:r>
            <a:r>
              <a:rPr lang="en-US" dirty="0"/>
              <a:t> for manager review and approval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complete visibility into employee correction requests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 of Request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Request Type</a:t>
            </a:r>
            <a:r>
              <a:rPr lang="en-US" dirty="0"/>
              <a:t> (e.g., Missed Clock In / Clock Out)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Correct In &amp; Out Time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 for Request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Remarks</a:t>
            </a:r>
            <a:r>
              <a:rPr lang="en-US" dirty="0"/>
              <a:t> and </a:t>
            </a:r>
            <a:r>
              <a:rPr lang="en-US" b="1" dirty="0"/>
              <a:t>Action (Approve / Reject)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Example Scenario: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Employee: </a:t>
            </a:r>
            <a:r>
              <a:rPr lang="en-US" b="1" dirty="0"/>
              <a:t>Sai Kishore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Date: </a:t>
            </a:r>
            <a:r>
              <a:rPr lang="en-US" b="1" dirty="0"/>
              <a:t>Apr 7, 2026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Type: </a:t>
            </a:r>
            <a:r>
              <a:rPr lang="en-US" b="1" dirty="0"/>
              <a:t>Missed Clock In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Correct In Time: </a:t>
            </a:r>
            <a:r>
              <a:rPr lang="en-US" b="1" dirty="0"/>
              <a:t>09:10 AM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Reason: </a:t>
            </a:r>
            <a:r>
              <a:rPr lang="en-US" i="1" dirty="0"/>
              <a:t>Forgot to clock 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9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52" y="169080"/>
            <a:ext cx="7596554" cy="599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5028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4683" cy="464234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Attendance Management – Employee Attendance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611" y="464235"/>
            <a:ext cx="8993945" cy="5858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centralized view to </a:t>
            </a:r>
            <a:r>
              <a:rPr lang="en-US" b="1" dirty="0"/>
              <a:t>manage and save daily employee attendance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Allows selection of a specific date to load and update attendance records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Functions: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Select Date</a:t>
            </a:r>
            <a:r>
              <a:rPr lang="en-US" dirty="0"/>
              <a:t> to load attendance (e.g., 20 Apr 2026)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Option to </a:t>
            </a:r>
            <a:r>
              <a:rPr lang="en-US" b="1" dirty="0"/>
              <a:t>Load Attendance</a:t>
            </a:r>
            <a:r>
              <a:rPr lang="en-US" dirty="0"/>
              <a:t> and identify missing entries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Alert for </a:t>
            </a:r>
            <a:r>
              <a:rPr lang="en-US" b="1" dirty="0"/>
              <a:t>unsaved attendance records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Save All Attendance</a:t>
            </a:r>
            <a:r>
              <a:rPr lang="en-US" dirty="0"/>
              <a:t> option for bulk updates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Attendance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Code &amp; 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Shift Timings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Clock In &amp; Clock Out Time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Late Arrivals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Gross Working Time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Attendance Status</a:t>
            </a:r>
            <a:r>
              <a:rPr lang="en-US" dirty="0"/>
              <a:t> (Present / Absent / Leave)</a:t>
            </a:r>
          </a:p>
        </p:txBody>
      </p:sp>
    </p:spTree>
    <p:extLst>
      <p:ext uri="{BB962C8B-B14F-4D97-AF65-F5344CB8AC3E}">
        <p14:creationId xmlns:p14="http://schemas.microsoft.com/office/powerpoint/2010/main" val="35217709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19" y="478301"/>
            <a:ext cx="9288355" cy="433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35479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4683" cy="450166"/>
          </a:xfrm>
        </p:spPr>
        <p:txBody>
          <a:bodyPr>
            <a:normAutofit fontScale="90000"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Leave Management – Apply for Leave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9544" y="551046"/>
            <a:ext cx="848750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submit leave requests</a:t>
            </a:r>
            <a:r>
              <a:rPr lang="en-US" dirty="0"/>
              <a:t> in a structured and efficient manner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smooth approval workflow and leave tracking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Leave Type</a:t>
            </a:r>
            <a:r>
              <a:rPr lang="en-US" dirty="0"/>
              <a:t> (e.g., Casual, Sick, Earned Leave)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Option for </a:t>
            </a:r>
            <a:r>
              <a:rPr lang="en-US" b="1" dirty="0"/>
              <a:t>Half Day Leave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Start Date</a:t>
            </a:r>
            <a:r>
              <a:rPr lang="en-US" dirty="0"/>
              <a:t> and </a:t>
            </a:r>
            <a:r>
              <a:rPr lang="en-US" b="1" dirty="0"/>
              <a:t>End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Total Leave Days</a:t>
            </a:r>
            <a:r>
              <a:rPr lang="en-US" dirty="0"/>
              <a:t> </a:t>
            </a:r>
            <a:r>
              <a:rPr lang="en-US" i="1" dirty="0"/>
              <a:t>(auto-calculated)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 / Remarks</a:t>
            </a:r>
            <a:r>
              <a:rPr lang="en-US" dirty="0"/>
              <a:t> for leave request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Supporting Document Upload</a:t>
            </a:r>
            <a:r>
              <a:rPr lang="en-US" dirty="0"/>
              <a:t> </a:t>
            </a:r>
            <a:r>
              <a:rPr lang="en-US" i="1" dirty="0"/>
              <a:t>(if required)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Reporting Manager</a:t>
            </a:r>
            <a:r>
              <a:rPr lang="en-US" dirty="0"/>
              <a:t> and </a:t>
            </a:r>
            <a:r>
              <a:rPr lang="en-US" b="1" dirty="0"/>
              <a:t>HR Email (CC)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2648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7" y="233608"/>
            <a:ext cx="7863841" cy="59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6623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82818" cy="590843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Leave Management – Leave Approvals (Manager 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375137" y="295421"/>
            <a:ext cx="9078351" cy="6689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managers to </a:t>
            </a:r>
            <a:r>
              <a:rPr lang="en-US" b="1" dirty="0"/>
              <a:t>review and manage employee leave requests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clear overview of leave details and approval status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Leave Type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From Date</a:t>
            </a:r>
            <a:r>
              <a:rPr lang="en-US" dirty="0"/>
              <a:t> and </a:t>
            </a:r>
            <a:r>
              <a:rPr lang="en-US" b="1" dirty="0"/>
              <a:t>To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Number of Days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 for Leave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(Approved / Rejected / Pending)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Actions</a:t>
            </a:r>
            <a:r>
              <a:rPr lang="en-US" dirty="0"/>
              <a:t> (Approve / Reject)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Example Scenario: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Employee: </a:t>
            </a:r>
            <a:r>
              <a:rPr lang="en-US" b="1" dirty="0" err="1"/>
              <a:t>Rajitha</a:t>
            </a:r>
            <a:r>
              <a:rPr lang="en-US" b="1" dirty="0"/>
              <a:t> </a:t>
            </a:r>
            <a:r>
              <a:rPr lang="en-US" b="1" dirty="0" err="1"/>
              <a:t>Pavuluru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Leave Type: </a:t>
            </a:r>
            <a:r>
              <a:rPr lang="en-US" b="1" dirty="0"/>
              <a:t>Sick Leave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Duration: </a:t>
            </a:r>
            <a:r>
              <a:rPr lang="en-US" b="1" dirty="0"/>
              <a:t>08 Apr 2026 – 10 Apr 2026 (3 Days)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Reason: </a:t>
            </a:r>
            <a:r>
              <a:rPr lang="en-US" i="1" dirty="0"/>
              <a:t>Going to </a:t>
            </a:r>
            <a:r>
              <a:rPr lang="en-US" i="1" dirty="0" err="1"/>
              <a:t>Thirumala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Status: </a:t>
            </a:r>
            <a:r>
              <a:rPr lang="en-US" b="1" dirty="0"/>
              <a:t>Approved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1615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73" y="267555"/>
            <a:ext cx="9019962" cy="433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1498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117058" cy="604911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Leave Management – Leave Calendar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477" y="503483"/>
            <a:ext cx="882513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</a:t>
            </a:r>
            <a:r>
              <a:rPr lang="en-US" b="1" dirty="0"/>
              <a:t>monthly calendar view</a:t>
            </a:r>
            <a:r>
              <a:rPr lang="en-US" dirty="0"/>
              <a:t> of employee leave records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visualize leave distribution and workforce availability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Features: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leave data for </a:t>
            </a:r>
            <a:r>
              <a:rPr lang="en-US" b="1" dirty="0"/>
              <a:t>selected month and employees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</a:t>
            </a:r>
            <a:r>
              <a:rPr lang="en-US" b="1" dirty="0"/>
              <a:t>different leave types</a:t>
            </a:r>
            <a:r>
              <a:rPr lang="en-US" dirty="0"/>
              <a:t> (Casual, Sick, Earned Leave)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Clearly indicates </a:t>
            </a:r>
            <a:r>
              <a:rPr lang="en-US" b="1" dirty="0"/>
              <a:t>approval status</a:t>
            </a:r>
            <a:r>
              <a:rPr lang="en-US" dirty="0"/>
              <a:t> (Approved / Pending / Rejected)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Easy navigation across </a:t>
            </a:r>
            <a:r>
              <a:rPr lang="en-US" b="1" dirty="0"/>
              <a:t>days, weeks, and months</a:t>
            </a:r>
            <a:r>
              <a:rPr lang="en-US" dirty="0"/>
              <a:t>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Calendar Highlights: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Shows </a:t>
            </a:r>
            <a:r>
              <a:rPr lang="en-US" b="1" dirty="0"/>
              <a:t>leave entries mapped to specific dates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Multiple leave records visible on the same day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identify </a:t>
            </a:r>
            <a:r>
              <a:rPr lang="en-US" b="1" dirty="0"/>
              <a:t>peak leave periods and overlaps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93105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86" y="225035"/>
            <a:ext cx="7582487" cy="6080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614905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67225" cy="576775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Expense Management – Expense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32936" y="468816"/>
            <a:ext cx="91627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submit expense claims</a:t>
            </a:r>
            <a:r>
              <a:rPr lang="en-US" dirty="0"/>
              <a:t> for reimbursement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tracking and approval of business-related expenses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Project / Engagement</a:t>
            </a:r>
            <a:r>
              <a:rPr lang="en-US" dirty="0"/>
              <a:t> and </a:t>
            </a:r>
            <a:r>
              <a:rPr lang="en-US" b="1" dirty="0"/>
              <a:t>Category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Location</a:t>
            </a:r>
            <a:r>
              <a:rPr lang="en-US" dirty="0"/>
              <a:t> and </a:t>
            </a:r>
            <a:r>
              <a:rPr lang="en-US" b="1" dirty="0"/>
              <a:t>Country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Department</a:t>
            </a:r>
            <a:r>
              <a:rPr lang="en-US" dirty="0"/>
              <a:t> (e.g., Development Department)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Amount</a:t>
            </a:r>
            <a:r>
              <a:rPr lang="en-US" dirty="0"/>
              <a:t> and </a:t>
            </a:r>
            <a:r>
              <a:rPr lang="en-US" b="1" dirty="0"/>
              <a:t>Date of Expense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 / Description</a:t>
            </a:r>
            <a:r>
              <a:rPr lang="en-US" dirty="0"/>
              <a:t> for the expense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Receipt Upload</a:t>
            </a:r>
            <a:r>
              <a:rPr lang="en-US" dirty="0"/>
              <a:t> for verification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4724785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8" y="182391"/>
            <a:ext cx="8187397" cy="5801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09557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651631" cy="450166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Expense Management – Expense List &amp;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289" y="450166"/>
            <a:ext cx="848750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a centralized view of </a:t>
            </a:r>
            <a:r>
              <a:rPr lang="en-US" b="1" dirty="0"/>
              <a:t>all submitted expenses</a:t>
            </a:r>
            <a:r>
              <a:rPr lang="en-US" dirty="0"/>
              <a:t> across projects and categories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Enables easy tracking of expense status and details </a:t>
            </a:r>
          </a:p>
          <a:p>
            <a:r>
              <a:rPr lang="en-US" b="1" u="sng" dirty="0"/>
              <a:t>Filters Available: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Project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Country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(Pending / Approved / Rejected) </a:t>
            </a:r>
          </a:p>
          <a:p>
            <a:r>
              <a:rPr lang="en-US" b="1" u="sng" dirty="0"/>
              <a:t>Expense Details Include: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Project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(e.g., Travel Expenses)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Country</a:t>
            </a:r>
            <a:r>
              <a:rPr lang="en-US" dirty="0"/>
              <a:t> (e.g., USA)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Amount</a:t>
            </a:r>
            <a:r>
              <a:rPr lang="en-US" dirty="0"/>
              <a:t> (INR)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Date of Expense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</a:t>
            </a:r>
          </a:p>
          <a:p>
            <a:r>
              <a:rPr lang="en-US" b="1" u="sng" dirty="0"/>
              <a:t>Example Record</a:t>
            </a:r>
            <a:r>
              <a:rPr lang="en-US" b="1" dirty="0"/>
              <a:t>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Project: </a:t>
            </a:r>
            <a:r>
              <a:rPr lang="en-US" b="1" dirty="0"/>
              <a:t>9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Category: </a:t>
            </a:r>
            <a:r>
              <a:rPr lang="en-US" b="1" dirty="0"/>
              <a:t>Travel Expenses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Country: </a:t>
            </a:r>
            <a:r>
              <a:rPr lang="en-US" b="1" dirty="0"/>
              <a:t>USA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Amount: </a:t>
            </a:r>
            <a:r>
              <a:rPr lang="en-US" b="1" dirty="0"/>
              <a:t>88.00 INR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Date: </a:t>
            </a:r>
            <a:r>
              <a:rPr lang="en-US" b="1" dirty="0"/>
              <a:t>15 Apr 2026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Status: </a:t>
            </a:r>
            <a:r>
              <a:rPr lang="en-US" b="1" dirty="0"/>
              <a:t>Pending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1431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19" y="264159"/>
            <a:ext cx="9033059" cy="4181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822687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68751" cy="506437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Expense Management – Approval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018" y="506437"/>
            <a:ext cx="8867336" cy="627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managers to </a:t>
            </a:r>
            <a:r>
              <a:rPr lang="en-US" b="1" dirty="0"/>
              <a:t>review and approve employee expense claims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clear overview of submitted expenses with approval status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Filters Available: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Project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Country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(Pending / Approved / Rejected)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Expense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Project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(e.g., Travel Expenses)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Country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Amount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 of Submission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Submitted By (Employee Name)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598947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99" y="296105"/>
            <a:ext cx="8792307" cy="422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47667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99938" cy="478302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Payroll Management – </a:t>
            </a:r>
            <a:r>
              <a:rPr lang="en-US" sz="2500" b="1" u="sng" dirty="0" err="1">
                <a:solidFill>
                  <a:schemeClr val="tx1"/>
                </a:solidFill>
              </a:rPr>
              <a:t>Payslip</a:t>
            </a:r>
            <a:r>
              <a:rPr lang="en-US" sz="2500" b="1" u="sng" dirty="0">
                <a:solidFill>
                  <a:schemeClr val="tx1"/>
                </a:solidFill>
              </a:rPr>
              <a:t>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732" y="675249"/>
            <a:ext cx="895174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Allows employees to </a:t>
            </a:r>
            <a:r>
              <a:rPr lang="en-US" b="1" dirty="0"/>
              <a:t>generate and view </a:t>
            </a:r>
            <a:r>
              <a:rPr lang="en-US" b="1" dirty="0" err="1"/>
              <a:t>payslips</a:t>
            </a:r>
            <a:r>
              <a:rPr lang="en-US" dirty="0"/>
              <a:t> for a selected time period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flexibility to access salary details across multiple months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Inputs Include: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From Month</a:t>
            </a:r>
            <a:r>
              <a:rPr lang="en-US" dirty="0"/>
              <a:t> and </a:t>
            </a:r>
            <a:r>
              <a:rPr lang="en-US" b="1" dirty="0"/>
              <a:t>To Month</a:t>
            </a:r>
            <a:r>
              <a:rPr lang="en-US" dirty="0"/>
              <a:t> selection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Year</a:t>
            </a:r>
            <a:r>
              <a:rPr lang="en-US" dirty="0"/>
              <a:t> selection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Features: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Generate </a:t>
            </a:r>
            <a:r>
              <a:rPr lang="en-US" dirty="0" err="1"/>
              <a:t>payslips</a:t>
            </a:r>
            <a:r>
              <a:rPr lang="en-US" dirty="0"/>
              <a:t> for a </a:t>
            </a:r>
            <a:r>
              <a:rPr lang="en-US" b="1" dirty="0"/>
              <a:t>specific date range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Easy access to </a:t>
            </a:r>
            <a:r>
              <a:rPr lang="en-US" b="1" dirty="0"/>
              <a:t>historical salary records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download and review of </a:t>
            </a:r>
            <a:r>
              <a:rPr lang="en-US" dirty="0" err="1"/>
              <a:t>payslips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Improves transparency in salary and deductions</a:t>
            </a:r>
          </a:p>
        </p:txBody>
      </p:sp>
    </p:spTree>
    <p:extLst>
      <p:ext uri="{BB962C8B-B14F-4D97-AF65-F5344CB8AC3E}">
        <p14:creationId xmlns:p14="http://schemas.microsoft.com/office/powerpoint/2010/main" val="351057314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15" y="211822"/>
            <a:ext cx="8851986" cy="42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017204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40615" cy="478302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Payroll Management – HR </a:t>
            </a:r>
            <a:r>
              <a:rPr lang="en-US" sz="2500" b="1" u="sng" dirty="0" err="1">
                <a:solidFill>
                  <a:schemeClr val="tx1"/>
                </a:solidFill>
              </a:rPr>
              <a:t>Payslip</a:t>
            </a:r>
            <a:r>
              <a:rPr lang="en-US" sz="2500" b="1" u="sng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140" y="506438"/>
            <a:ext cx="771847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HR with a centralized dashboard to </a:t>
            </a:r>
            <a:r>
              <a:rPr lang="en-US" b="1" dirty="0"/>
              <a:t>manage </a:t>
            </a:r>
            <a:r>
              <a:rPr lang="en-US" b="1" dirty="0" err="1"/>
              <a:t>payslip</a:t>
            </a:r>
            <a:r>
              <a:rPr lang="en-US" b="1" dirty="0"/>
              <a:t> requests and payroll reports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Enables efficient monitoring and downloading of employee payroll data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/>
              <a:t>Payslip</a:t>
            </a:r>
            <a:r>
              <a:rPr lang="en-US" b="1" dirty="0"/>
              <a:t> Requests Section: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Displays employee requests with: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From Month &amp; To Month</a:t>
            </a:r>
            <a:r>
              <a:rPr lang="en-US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Year</a:t>
            </a:r>
            <a:r>
              <a:rPr lang="en-US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Action</a:t>
            </a:r>
            <a:r>
              <a:rPr lang="en-US" dirty="0"/>
              <a:t> (Generate / Download)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Shows message when no requests are pending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i="1" dirty="0"/>
              <a:t>“No pending requests available”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All Payrolls Section: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Allows filtering of payroll data by: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Employees</a:t>
            </a:r>
            <a:r>
              <a:rPr lang="en-US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From Month &amp; To Month</a:t>
            </a:r>
            <a:r>
              <a:rPr lang="en-US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Year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Generate and download </a:t>
            </a:r>
            <a:r>
              <a:rPr lang="en-US" b="1" dirty="0"/>
              <a:t>bulk payroll reports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Easy filtering for quick data retrieval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Centralized payroll management for HR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Improves efficiency in handling employee </a:t>
            </a:r>
            <a:r>
              <a:rPr lang="en-US" dirty="0" err="1"/>
              <a:t>payslip</a:t>
            </a:r>
            <a:r>
              <a:rPr lang="en-US" dirty="0"/>
              <a:t> requests</a:t>
            </a:r>
          </a:p>
        </p:txBody>
      </p:sp>
    </p:spTree>
    <p:extLst>
      <p:ext uri="{BB962C8B-B14F-4D97-AF65-F5344CB8AC3E}">
        <p14:creationId xmlns:p14="http://schemas.microsoft.com/office/powerpoint/2010/main" val="169192260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67556"/>
            <a:ext cx="8468751" cy="6104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370508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12480" cy="407963"/>
          </a:xfrm>
        </p:spPr>
        <p:txBody>
          <a:bodyPr>
            <a:normAutofit fontScale="90000"/>
          </a:bodyPr>
          <a:lstStyle/>
          <a:p>
            <a:r>
              <a:rPr lang="fr-FR" sz="2500" b="1" u="sng" dirty="0" err="1">
                <a:solidFill>
                  <a:schemeClr val="tx1"/>
                </a:solidFill>
              </a:rPr>
              <a:t>Asset</a:t>
            </a:r>
            <a:r>
              <a:rPr lang="fr-FR" sz="2500" b="1" u="sng" dirty="0">
                <a:solidFill>
                  <a:schemeClr val="tx1"/>
                </a:solidFill>
              </a:rPr>
              <a:t> Management – </a:t>
            </a:r>
            <a:r>
              <a:rPr lang="fr-FR" sz="2500" b="1" u="sng" dirty="0" err="1">
                <a:solidFill>
                  <a:schemeClr val="tx1"/>
                </a:solidFill>
              </a:rPr>
              <a:t>Asset</a:t>
            </a:r>
            <a:r>
              <a:rPr lang="fr-FR" sz="2500" b="1" u="sng" dirty="0">
                <a:solidFill>
                  <a:schemeClr val="tx1"/>
                </a:solidFill>
              </a:rPr>
              <a:t> </a:t>
            </a:r>
            <a:r>
              <a:rPr lang="fr-FR" sz="2500" b="1" u="sng" dirty="0" err="1">
                <a:solidFill>
                  <a:schemeClr val="tx1"/>
                </a:solidFill>
              </a:rPr>
              <a:t>Creation</a:t>
            </a:r>
            <a:r>
              <a:rPr lang="fr-FR" sz="2500" b="1" u="sng" dirty="0">
                <a:solidFill>
                  <a:schemeClr val="tx1"/>
                </a:solidFill>
              </a:rPr>
              <a:t> &amp; Management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8019" y="520505"/>
            <a:ext cx="8557846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organizations to </a:t>
            </a:r>
            <a:r>
              <a:rPr lang="en-US" b="1" dirty="0"/>
              <a:t>create and manage company assets efficiently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Maintains complete records of asset details, ownership, and lifecycle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Name</a:t>
            </a:r>
            <a:r>
              <a:rPr lang="en-US" dirty="0"/>
              <a:t> and </a:t>
            </a:r>
            <a:r>
              <a:rPr lang="en-US" b="1" dirty="0"/>
              <a:t>Asset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Category</a:t>
            </a:r>
            <a:r>
              <a:rPr lang="en-US" dirty="0"/>
              <a:t> and </a:t>
            </a:r>
            <a:r>
              <a:rPr lang="en-US" b="1" dirty="0"/>
              <a:t>Asset Type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Location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Cost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Description</a:t>
            </a:r>
            <a:r>
              <a:rPr lang="en-US" dirty="0"/>
              <a:t> and </a:t>
            </a:r>
            <a:r>
              <a:rPr lang="en-US" b="1" dirty="0"/>
              <a:t>Model / Version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Purchase Order Details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Lifecycle &amp; Tracking Details: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Warranty Start &amp; End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Return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Status</a:t>
            </a:r>
            <a:r>
              <a:rPr lang="en-US" dirty="0"/>
              <a:t> (Active / In Use / Returned / Damaged)</a:t>
            </a:r>
          </a:p>
        </p:txBody>
      </p:sp>
    </p:spTree>
    <p:extLst>
      <p:ext uri="{BB962C8B-B14F-4D97-AF65-F5344CB8AC3E}">
        <p14:creationId xmlns:p14="http://schemas.microsoft.com/office/powerpoint/2010/main" val="250411010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86" y="154183"/>
            <a:ext cx="8076442" cy="6136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5323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68751" cy="436098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Asset Management – Asset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6665" y="436098"/>
            <a:ext cx="8825132" cy="5858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request company assets</a:t>
            </a:r>
            <a:r>
              <a:rPr lang="en-US" dirty="0"/>
              <a:t> based on their work requirements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a structured approval and allocation process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Employee Details: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: </a:t>
            </a:r>
            <a:r>
              <a:rPr lang="en-US" dirty="0" err="1"/>
              <a:t>Durga</a:t>
            </a:r>
            <a:r>
              <a:rPr lang="en-US" dirty="0"/>
              <a:t> Prasad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ID</a:t>
            </a:r>
            <a:r>
              <a:rPr lang="en-US" dirty="0"/>
              <a:t>: EMP0001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Department</a:t>
            </a:r>
            <a:r>
              <a:rPr lang="en-US" dirty="0"/>
              <a:t> and </a:t>
            </a:r>
            <a:r>
              <a:rPr lang="en-US" b="1" dirty="0"/>
              <a:t>Reporting Manager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Request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Category</a:t>
            </a:r>
            <a:r>
              <a:rPr lang="en-US" dirty="0"/>
              <a:t> and </a:t>
            </a:r>
            <a:r>
              <a:rPr lang="en-US" b="1" dirty="0"/>
              <a:t>Asset Type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Required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Priority</a:t>
            </a:r>
            <a:r>
              <a:rPr lang="en-US" dirty="0"/>
              <a:t> (Low / Medium / High)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Reason for Request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Supporting Document Upload</a:t>
            </a:r>
            <a:r>
              <a:rPr lang="en-US" dirty="0"/>
              <a:t> </a:t>
            </a:r>
            <a:r>
              <a:rPr lang="en-US" i="1" dirty="0"/>
              <a:t>(if required)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2467718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5" y="311589"/>
            <a:ext cx="8328073" cy="548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760146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12480" cy="492369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Asset Management – Asset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9205" y="492369"/>
            <a:ext cx="834683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Enables managers and HR to </a:t>
            </a:r>
            <a:r>
              <a:rPr lang="en-US" b="1" dirty="0"/>
              <a:t>review and approve employee asset requests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a structured view of all pending and processed asset requests </a:t>
            </a:r>
          </a:p>
          <a:p>
            <a:r>
              <a:rPr lang="en-US" b="1" u="sng" dirty="0"/>
              <a:t>Filters Available: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From Date</a:t>
            </a:r>
            <a:r>
              <a:rPr lang="en-US" dirty="0"/>
              <a:t> and </a:t>
            </a:r>
            <a:r>
              <a:rPr lang="en-US" b="1" dirty="0"/>
              <a:t>To Date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Asset Type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(Pending / Approved / Rejected) </a:t>
            </a:r>
          </a:p>
          <a:p>
            <a:r>
              <a:rPr lang="en-US" b="1" u="sng" dirty="0"/>
              <a:t>Approval Details Include: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Request ID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Asset Type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Required Date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Priority Level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</a:t>
            </a:r>
          </a:p>
          <a:p>
            <a:r>
              <a:rPr lang="en-US" b="1" u="sng" dirty="0"/>
              <a:t>Key Features: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Centralized asset request approval workflow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Easy filtering for quick search and tracking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Enables </a:t>
            </a:r>
            <a:r>
              <a:rPr lang="en-US" b="1" dirty="0"/>
              <a:t>approve/reject actions</a:t>
            </a:r>
            <a:r>
              <a:rPr lang="en-US" dirty="0"/>
              <a:t> with visibility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Improves accountability and timely asset allocation</a:t>
            </a:r>
          </a:p>
        </p:txBody>
      </p:sp>
    </p:spTree>
    <p:extLst>
      <p:ext uri="{BB962C8B-B14F-4D97-AF65-F5344CB8AC3E}">
        <p14:creationId xmlns:p14="http://schemas.microsoft.com/office/powerpoint/2010/main" val="226105148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340873"/>
            <a:ext cx="8834511" cy="419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098757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85871" cy="534572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Asset Management – Asset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409" y="534572"/>
            <a:ext cx="9022080" cy="627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HR/Admin to </a:t>
            </a:r>
            <a:r>
              <a:rPr lang="en-US" b="1" dirty="0"/>
              <a:t>assign approved assets to employees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tracking of asset allocation and return details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Request ID</a:t>
            </a:r>
            <a:r>
              <a:rPr lang="en-US" dirty="0"/>
              <a:t> </a:t>
            </a:r>
            <a:r>
              <a:rPr lang="en-US" i="1" dirty="0"/>
              <a:t>(linked to approved request)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Type</a:t>
            </a:r>
            <a:r>
              <a:rPr lang="en-US" dirty="0"/>
              <a:t> and </a:t>
            </a:r>
            <a:r>
              <a:rPr lang="en-US" b="1" dirty="0"/>
              <a:t>Select Asset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Asset Code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Assign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Return Date</a:t>
            </a:r>
            <a:r>
              <a:rPr lang="en-US" dirty="0"/>
              <a:t> </a:t>
            </a:r>
            <a:r>
              <a:rPr lang="en-US" i="1" dirty="0"/>
              <a:t>(if applicable)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Remarks / Notes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Features: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Seamless mapping of </a:t>
            </a:r>
            <a:r>
              <a:rPr lang="en-US" b="1" dirty="0"/>
              <a:t>approved requests to asset allocation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Tracks asset ownership and assignment history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planned </a:t>
            </a:r>
            <a:r>
              <a:rPr lang="en-US" b="1" dirty="0"/>
              <a:t>return and lifecycle management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accountability for assigned assets</a:t>
            </a:r>
          </a:p>
        </p:txBody>
      </p:sp>
    </p:spTree>
    <p:extLst>
      <p:ext uri="{BB962C8B-B14F-4D97-AF65-F5344CB8AC3E}">
        <p14:creationId xmlns:p14="http://schemas.microsoft.com/office/powerpoint/2010/main" val="424998370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44" y="274002"/>
            <a:ext cx="8074856" cy="5471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392110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99938" cy="506437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Asset Management – My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6665" y="506437"/>
            <a:ext cx="899394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employees with a </a:t>
            </a:r>
            <a:r>
              <a:rPr lang="en-US" b="1" dirty="0"/>
              <a:t>personalized view of all requested and assigned assets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Helps track the status and details of asset requests </a:t>
            </a:r>
          </a:p>
          <a:p>
            <a:r>
              <a:rPr lang="en-US" b="1" u="sng" dirty="0"/>
              <a:t>Filters Available: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Asset Type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(Pending / Approved / Assigned / Rejected) </a:t>
            </a:r>
          </a:p>
          <a:p>
            <a:r>
              <a:rPr lang="en-US" b="1" u="sng" dirty="0"/>
              <a:t>Asset Details Include: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Request ID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Asset Type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Required Date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Priority Level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Reason for Request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</a:t>
            </a:r>
          </a:p>
          <a:p>
            <a:r>
              <a:rPr lang="en-US" b="1" u="sng" dirty="0"/>
              <a:t>Key Features: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Centralized view of </a:t>
            </a:r>
            <a:r>
              <a:rPr lang="en-US" b="1" dirty="0"/>
              <a:t>individual asset requests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Real-time tracking of request and allocation status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Easy filtering for quick access to records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Improves transparency for employees</a:t>
            </a:r>
          </a:p>
        </p:txBody>
      </p:sp>
    </p:spTree>
    <p:extLst>
      <p:ext uri="{BB962C8B-B14F-4D97-AF65-F5344CB8AC3E}">
        <p14:creationId xmlns:p14="http://schemas.microsoft.com/office/powerpoint/2010/main" val="154897381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05" y="142142"/>
            <a:ext cx="8679766" cy="4169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537498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28074" cy="422031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Timesheet Management – Timesheet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32936" y="422031"/>
            <a:ext cx="9064282" cy="5858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log daily work hours and project activities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track productivity and project-wise time utilization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Employee Details: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: </a:t>
            </a:r>
            <a:r>
              <a:rPr lang="en-US" dirty="0" err="1"/>
              <a:t>Durga</a:t>
            </a:r>
            <a:r>
              <a:rPr lang="en-US" dirty="0"/>
              <a:t> Prasad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Code</a:t>
            </a:r>
            <a:r>
              <a:rPr lang="en-US" dirty="0"/>
              <a:t>: EMP0001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</a:t>
            </a:r>
            <a:r>
              <a:rPr lang="en-US" dirty="0"/>
              <a:t> of timesheet entry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Timesheet Information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Project Name</a:t>
            </a:r>
            <a:r>
              <a:rPr lang="en-US" dirty="0"/>
              <a:t> (e.g., Project 1)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Start Time</a:t>
            </a:r>
            <a:r>
              <a:rPr lang="en-US" dirty="0"/>
              <a:t> and </a:t>
            </a:r>
            <a:r>
              <a:rPr lang="en-US" b="1" dirty="0"/>
              <a:t>End Time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Total Working Hours</a:t>
            </a:r>
            <a:r>
              <a:rPr lang="en-US" dirty="0"/>
              <a:t> </a:t>
            </a:r>
            <a:r>
              <a:rPr lang="en-US" i="1" dirty="0"/>
              <a:t>(auto-calculated)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Overtime (OT) Hours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Comments / Work Description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Attachment Upload</a:t>
            </a:r>
            <a:r>
              <a:rPr lang="en-US" dirty="0"/>
              <a:t> </a:t>
            </a:r>
            <a:r>
              <a:rPr lang="en-US" i="1" dirty="0"/>
              <a:t>(if required)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3907527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" y="256540"/>
            <a:ext cx="7792134" cy="608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875481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12480" cy="506437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Timesheet Management – Timesheet Approvals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3951" y="555903"/>
            <a:ext cx="9359704" cy="627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managers to </a:t>
            </a:r>
            <a:r>
              <a:rPr lang="en-US" b="1" dirty="0"/>
              <a:t>review and approve employee timesheets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centralized view of submitted timesheet records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Filters Available: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Search by 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From Date</a:t>
            </a:r>
            <a:r>
              <a:rPr lang="en-US" dirty="0"/>
              <a:t> and </a:t>
            </a:r>
            <a:r>
              <a:rPr lang="en-US" b="1" dirty="0"/>
              <a:t>To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Quick option to view </a:t>
            </a:r>
            <a:r>
              <a:rPr lang="en-US" b="1" dirty="0"/>
              <a:t>Today’s Timesheets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Timesheet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ID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Total Working Hours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Overtime (OT) Hours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Approver Comments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(Pending / Approved / Rejected)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Action</a:t>
            </a:r>
            <a:r>
              <a:rPr lang="en-US" dirty="0"/>
              <a:t> (Approve / Reject)</a:t>
            </a:r>
          </a:p>
        </p:txBody>
      </p:sp>
    </p:spTree>
    <p:extLst>
      <p:ext uri="{BB962C8B-B14F-4D97-AF65-F5344CB8AC3E}">
        <p14:creationId xmlns:p14="http://schemas.microsoft.com/office/powerpoint/2010/main" val="243371141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18" y="465211"/>
            <a:ext cx="8609471" cy="4106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07116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53157" cy="787791"/>
          </a:xfrm>
        </p:spPr>
        <p:txBody>
          <a:bodyPr>
            <a:normAutofit fontScale="90000"/>
          </a:bodyPr>
          <a:lstStyle/>
          <a:p>
            <a:r>
              <a:rPr lang="en-US" sz="2500" b="1" u="sng" dirty="0" smtClean="0">
                <a:solidFill>
                  <a:schemeClr val="tx1"/>
                </a:solidFill>
              </a:rPr>
              <a:t>Recruitment Management – Resume Upload &amp; Candidate Management</a:t>
            </a:r>
            <a:endParaRPr lang="en-US" sz="2500" b="1" u="sng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5617" y="658399"/>
            <a:ext cx="7741921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Enables HR to </a:t>
            </a:r>
            <a:r>
              <a:rPr lang="en-US" sz="1600" b="1" dirty="0"/>
              <a:t>capture and manage candidate details</a:t>
            </a:r>
            <a:r>
              <a:rPr lang="en-US" sz="1600" dirty="0"/>
              <a:t> efficiently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Supports complete tracking from application to hiring stage </a:t>
            </a:r>
          </a:p>
          <a:p>
            <a:r>
              <a:rPr lang="en-US" sz="1600" b="1" u="sng" dirty="0" smtClean="0"/>
              <a:t>Personal </a:t>
            </a:r>
            <a:r>
              <a:rPr lang="en-US" sz="1600" b="1" u="sng" dirty="0"/>
              <a:t>&amp; Application Details:</a:t>
            </a:r>
            <a:endParaRPr lang="en-US" sz="1600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Applied Date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Candidate Name, Email, Mobile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Gender, Date of Birth, Marital Status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Current &amp; Expected Salary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Reference Source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Designation &amp; Department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Skills, Experience, Notice Period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Current Offers, Preferred Location, Reason for Change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Resume Upload</a:t>
            </a:r>
            <a:r>
              <a:rPr lang="en-US" sz="1600" dirty="0"/>
              <a:t> </a:t>
            </a:r>
          </a:p>
          <a:p>
            <a:r>
              <a:rPr lang="en-US" sz="1600" b="1" u="sng" dirty="0"/>
              <a:t>Experience &amp; Qualification Details:</a:t>
            </a:r>
            <a:endParaRPr lang="en-US" sz="1600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Add </a:t>
            </a:r>
            <a:r>
              <a:rPr lang="en-US" sz="1600" b="1" dirty="0"/>
              <a:t>Previous Work Experience</a:t>
            </a:r>
            <a:r>
              <a:rPr lang="en-US" sz="1600" dirty="0"/>
              <a:t> (Organization, Role, Duration)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Add </a:t>
            </a:r>
            <a:r>
              <a:rPr lang="en-US" sz="1600" b="1" dirty="0"/>
              <a:t>Educational Qualifications</a:t>
            </a:r>
            <a:r>
              <a:rPr lang="en-US" sz="1600" dirty="0"/>
              <a:t> (Degree, University, Duration)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Supports multiple records for both sections </a:t>
            </a:r>
          </a:p>
          <a:p>
            <a:r>
              <a:rPr lang="en-US" sz="1600" b="1" u="sng" dirty="0"/>
              <a:t>Candidates Listing Includes:</a:t>
            </a:r>
            <a:endParaRPr lang="en-US" sz="1600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Candidate Name &amp; Sequence ID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Designation Applied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Contact Details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Applied Date &amp; Resume File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Recruitment Stage &amp; Progress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Actions</a:t>
            </a:r>
            <a:r>
              <a:rPr lang="en-US" sz="1600" dirty="0"/>
              <a:t> (View / Update / Move to Next Stage)</a:t>
            </a:r>
          </a:p>
        </p:txBody>
      </p:sp>
    </p:spTree>
    <p:extLst>
      <p:ext uri="{BB962C8B-B14F-4D97-AF65-F5344CB8AC3E}">
        <p14:creationId xmlns:p14="http://schemas.microsoft.com/office/powerpoint/2010/main" val="410599975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657" y="-123385"/>
            <a:ext cx="5359888" cy="7513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26379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68751" cy="436098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Recruitment Management – Screening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4288" y="387658"/>
            <a:ext cx="8515643" cy="5985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Enables HR and recruiters to </a:t>
            </a:r>
            <a:r>
              <a:rPr lang="en-US" b="1" dirty="0"/>
              <a:t>screen candidates based on job requirements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Helps shortlist candidates for further interview rounds </a:t>
            </a:r>
          </a:p>
          <a:p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Designation</a:t>
            </a:r>
            <a:r>
              <a:rPr lang="en-US" dirty="0"/>
              <a:t> and </a:t>
            </a:r>
            <a:r>
              <a:rPr lang="en-US" b="1" dirty="0"/>
              <a:t>Department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Candidate List</a:t>
            </a:r>
            <a:r>
              <a:rPr lang="en-US" dirty="0"/>
              <a:t> with: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Sequence ID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Candidate Name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Mobile Number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Expected Salary </a:t>
            </a:r>
          </a:p>
          <a:p>
            <a:r>
              <a:rPr lang="en-US" b="1" u="sng" dirty="0"/>
              <a:t>Screening Actions: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Assign </a:t>
            </a:r>
            <a:r>
              <a:rPr lang="en-US" b="1" dirty="0"/>
              <a:t>Recruiters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Add </a:t>
            </a:r>
            <a:r>
              <a:rPr lang="en-US" b="1" dirty="0"/>
              <a:t>Remarks / Evaluation Notes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Record </a:t>
            </a:r>
            <a:r>
              <a:rPr lang="en-US" b="1" dirty="0"/>
              <a:t>Screening Results</a:t>
            </a:r>
            <a:r>
              <a:rPr lang="en-US" dirty="0"/>
              <a:t> (Selected / Rejected / On Hold)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Screening Records Include: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Candidate Name &amp; Sequence ID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Assigned Recruiter(s)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Screening Result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Remarks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Screening Date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Progress Status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Action</a:t>
            </a:r>
            <a:r>
              <a:rPr lang="en-US" dirty="0"/>
              <a:t> (View / Update)</a:t>
            </a:r>
          </a:p>
        </p:txBody>
      </p:sp>
    </p:spTree>
    <p:extLst>
      <p:ext uri="{BB962C8B-B14F-4D97-AF65-F5344CB8AC3E}">
        <p14:creationId xmlns:p14="http://schemas.microsoft.com/office/powerpoint/2010/main" val="165846505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85" y="230749"/>
            <a:ext cx="6948365" cy="6234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210543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274002" cy="478302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Recruitment Management – Interview Scheduling &amp;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070" y="379828"/>
            <a:ext cx="921902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/>
              <a:t>Enables HR to </a:t>
            </a:r>
            <a:r>
              <a:rPr lang="en-US" sz="1700" b="1" dirty="0"/>
              <a:t>schedule interviews and capture feedback</a:t>
            </a:r>
            <a:r>
              <a:rPr lang="en-US" sz="1700" dirty="0"/>
              <a:t> efficiently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/>
              <a:t>Ensures smooth coordination between candidates and interviewers </a:t>
            </a:r>
          </a:p>
          <a:p>
            <a:r>
              <a:rPr lang="en-US" sz="1700" b="1" u="sng" dirty="0"/>
              <a:t>Interview Scheduling Details:</a:t>
            </a:r>
            <a:endParaRPr lang="en-US" sz="1700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Designation</a:t>
            </a:r>
            <a:r>
              <a:rPr lang="en-US" sz="1700" dirty="0"/>
              <a:t> and </a:t>
            </a:r>
            <a:r>
              <a:rPr lang="en-US" sz="1700" b="1" dirty="0"/>
              <a:t>Department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Interview Level</a:t>
            </a:r>
            <a:r>
              <a:rPr lang="en-US" sz="1700" dirty="0"/>
              <a:t> (Technical / HR / Managerial)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Interviewer(s) Assignment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Date &amp; Time</a:t>
            </a:r>
            <a:r>
              <a:rPr lang="en-US" sz="1700" dirty="0"/>
              <a:t> of Interview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Location</a:t>
            </a:r>
            <a:r>
              <a:rPr lang="en-US" sz="1700" dirty="0"/>
              <a:t> (Office / Online)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Meeting Link</a:t>
            </a:r>
            <a:r>
              <a:rPr lang="en-US" sz="1700" dirty="0"/>
              <a:t> </a:t>
            </a:r>
            <a:r>
              <a:rPr lang="en-US" sz="1700" i="1" dirty="0"/>
              <a:t>(for virtual interviews)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Description / Instructions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HR Email (CC)</a:t>
            </a:r>
            <a:r>
              <a:rPr lang="en-US" sz="1700" dirty="0"/>
              <a:t> for communication </a:t>
            </a:r>
          </a:p>
          <a:p>
            <a:r>
              <a:rPr lang="en-US" sz="1700" b="1" u="sng" dirty="0"/>
              <a:t>Candidate Information Includes:</a:t>
            </a:r>
            <a:endParaRPr lang="en-US" sz="1700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Candidate Name &amp; Sequence ID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Mobile Number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Expected Salary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Interview Records Include:</a:t>
            </a:r>
            <a:endParaRPr lang="en-US" sz="17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Candidate Name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Interview Level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Interviewer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Date &amp; Time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Location / Mode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Description / Feedback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Progress Status</a:t>
            </a:r>
            <a:r>
              <a:rPr lang="en-US" sz="17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b="1" dirty="0"/>
              <a:t>Actions</a:t>
            </a:r>
            <a:r>
              <a:rPr lang="en-US" sz="1700" dirty="0"/>
              <a:t> (Update / View)</a:t>
            </a:r>
          </a:p>
        </p:txBody>
      </p:sp>
    </p:spTree>
    <p:extLst>
      <p:ext uri="{BB962C8B-B14F-4D97-AF65-F5344CB8AC3E}">
        <p14:creationId xmlns:p14="http://schemas.microsoft.com/office/powerpoint/2010/main" val="424884221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57" y="64164"/>
            <a:ext cx="6739694" cy="6793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10763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98412" cy="450166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Recruitment Management – Appointment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410" y="267286"/>
            <a:ext cx="8712590" cy="6689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Manages </a:t>
            </a:r>
            <a:r>
              <a:rPr lang="en-US" b="1" dirty="0"/>
              <a:t>interview appointment scheduling and attendee tracking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structured coordination between candidates and interview sessions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Appointment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Interview Selection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Sequence ID &amp;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Designation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Venue (Office / Online Location)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Description / Notes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Action</a:t>
            </a:r>
            <a:r>
              <a:rPr lang="en-US" dirty="0"/>
              <a:t> (View / Update / Manage)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Attendee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Sequence ID &amp; Candidate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Gender &amp; Mobile Number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Expected Salary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(Scheduled / Attended / Not Attended)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Description / Feedback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Reported By (Recruiter / HR)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0024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72" y="373771"/>
            <a:ext cx="8143826" cy="5725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760361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82818" cy="464234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Recruitment Management – Offer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071" y="464235"/>
            <a:ext cx="90220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Manages the </a:t>
            </a:r>
            <a:r>
              <a:rPr lang="en-US" b="1" dirty="0"/>
              <a:t>offer creation, approval, and tracking process</a:t>
            </a:r>
            <a:r>
              <a:rPr lang="en-US" dirty="0"/>
              <a:t> for selected candidates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Ensures smooth transition from interview stage to onboarding </a:t>
            </a:r>
          </a:p>
          <a:p>
            <a:r>
              <a:rPr lang="en-US" b="1" u="sng" dirty="0"/>
              <a:t>Offer Details Include: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Designation</a:t>
            </a:r>
            <a:r>
              <a:rPr lang="en-US" dirty="0"/>
              <a:t> and </a:t>
            </a:r>
            <a:r>
              <a:rPr lang="en-US" b="1" dirty="0"/>
              <a:t>Department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Candidate selection details (Name, Mobile, Expected Salary)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CTC (Cost to Company)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Expected Date of Joining (DOJ)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Offer Status</a:t>
            </a:r>
            <a:r>
              <a:rPr lang="en-US" dirty="0"/>
              <a:t> (Draft / Sent / Accepted / Rejected)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 </a:t>
            </a:r>
          </a:p>
          <a:p>
            <a:r>
              <a:rPr lang="en-US" b="1" u="sng" dirty="0"/>
              <a:t>Offers List Includes: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Candidate Name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Designation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CTC Offered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DOJ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Progress Tracking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Actions</a:t>
            </a:r>
            <a:r>
              <a:rPr lang="en-US" dirty="0"/>
              <a:t> (View / Edit / Send Offer)</a:t>
            </a:r>
          </a:p>
        </p:txBody>
      </p:sp>
    </p:spTree>
    <p:extLst>
      <p:ext uri="{BB962C8B-B14F-4D97-AF65-F5344CB8AC3E}">
        <p14:creationId xmlns:p14="http://schemas.microsoft.com/office/powerpoint/2010/main" val="370669727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21" y="139310"/>
            <a:ext cx="7322331" cy="622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293150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68751" cy="407963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Recruitment Management – Onboarding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069" y="407963"/>
            <a:ext cx="810768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Manages the </a:t>
            </a:r>
            <a:r>
              <a:rPr lang="en-US" b="1" dirty="0"/>
              <a:t>final stage of the hiring process</a:t>
            </a:r>
            <a:r>
              <a:rPr lang="en-US" dirty="0"/>
              <a:t>, ensuring smooth employee joining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Tracks all onboarding activities and required formalities </a:t>
            </a:r>
          </a:p>
          <a:p>
            <a:r>
              <a:rPr lang="en-US" b="1" u="sng" dirty="0"/>
              <a:t>Onboarding Details Include: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Designation</a:t>
            </a:r>
            <a:r>
              <a:rPr lang="en-US" dirty="0"/>
              <a:t> and </a:t>
            </a:r>
            <a:r>
              <a:rPr lang="en-US" b="1" dirty="0"/>
              <a:t>Department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Candidate details (Name, Mobile, Expected Salary)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Joining Date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Documents Collected Status</a:t>
            </a:r>
            <a:r>
              <a:rPr lang="en-US" dirty="0"/>
              <a:t> (Yes / No)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Background Check Status</a:t>
            </a:r>
            <a:r>
              <a:rPr lang="en-US" dirty="0"/>
              <a:t> (Pending / Completed)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Laptop Issued Status</a:t>
            </a:r>
            <a:r>
              <a:rPr lang="en-US" dirty="0"/>
              <a:t> (Yes / No)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HR Name / Buddy Assignment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Onboarding Status Tracking</a:t>
            </a:r>
            <a:r>
              <a:rPr lang="en-US" dirty="0"/>
              <a:t> </a:t>
            </a:r>
          </a:p>
          <a:p>
            <a:r>
              <a:rPr lang="en-US" b="1" u="sng" dirty="0"/>
              <a:t>Onboarding List Includes: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Candidate Name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Joining Date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Documents Status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Background Check Status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Laptop Allocation Status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Buddy Assignment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Progress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76891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59" y="152010"/>
            <a:ext cx="7512148" cy="63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0680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8651631" cy="422031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Performance Management – KPI Submission &amp;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409" y="225083"/>
            <a:ext cx="8051410" cy="6689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submit self-performance KPIs and reviews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structured evaluation by managers for appraisal cycles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Employee Details: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Code:</a:t>
            </a:r>
            <a:r>
              <a:rPr lang="en-US" dirty="0"/>
              <a:t> EMP0001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Name:</a:t>
            </a:r>
            <a:r>
              <a:rPr lang="en-US" dirty="0"/>
              <a:t> </a:t>
            </a:r>
            <a:r>
              <a:rPr lang="en-US" dirty="0" err="1"/>
              <a:t>Durga</a:t>
            </a:r>
            <a:r>
              <a:rPr lang="en-US" dirty="0"/>
              <a:t> Prasad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Designation &amp; Department:</a:t>
            </a:r>
            <a:r>
              <a:rPr lang="en-US" dirty="0"/>
              <a:t> Development Department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Reporting Manager:</a:t>
            </a:r>
            <a:r>
              <a:rPr lang="en-US" dirty="0"/>
              <a:t> </a:t>
            </a:r>
            <a:r>
              <a:rPr lang="en-US" dirty="0" err="1"/>
              <a:t>Naresh</a:t>
            </a:r>
            <a:r>
              <a:rPr lang="en-US" dirty="0"/>
              <a:t> Kumar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Performance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Performance Cycle</a:t>
            </a:r>
            <a:r>
              <a:rPr lang="en-US" dirty="0"/>
              <a:t> (e.g., Quarterly)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Project Details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Appraisal Year</a:t>
            </a:r>
            <a:r>
              <a:rPr lang="en-US" dirty="0"/>
              <a:t> (2026)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Applicable Start &amp; End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Self Review Summary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Workflow: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Submission → Manager Review &amp; Approval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6961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44" y="299109"/>
            <a:ext cx="7624688" cy="5996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004951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96886" cy="450166"/>
          </a:xfrm>
        </p:spPr>
        <p:txBody>
          <a:bodyPr>
            <a:no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Performance Management – Pending KPI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" y="450166"/>
            <a:ext cx="875479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Displays all </a:t>
            </a:r>
            <a:r>
              <a:rPr lang="en-US" b="1" dirty="0"/>
              <a:t>pending performance and KPI submissions</a:t>
            </a:r>
            <a:r>
              <a:rPr lang="en-US" dirty="0"/>
              <a:t> awaiting manager evaluation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Helps managers efficiently review and process multiple employee appraisals </a:t>
            </a:r>
          </a:p>
          <a:p>
            <a:r>
              <a:rPr lang="en-US" b="1" u="sng" dirty="0"/>
              <a:t>Review Details Include: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Employee Name / Code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Project Details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Appraisal Year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Current Status</a:t>
            </a:r>
            <a:r>
              <a:rPr lang="en-US" dirty="0"/>
              <a:t> (Pending / In Review / Completed)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Actions</a:t>
            </a:r>
            <a:r>
              <a:rPr lang="en-US" dirty="0"/>
              <a:t> (Approve / Reject / Request Changes) </a:t>
            </a:r>
          </a:p>
          <a:p>
            <a:r>
              <a:rPr lang="en-US" b="1" u="sng" dirty="0"/>
              <a:t>Bulk Actions:</a:t>
            </a:r>
            <a:endParaRPr lang="en-US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Enables managers to perform </a:t>
            </a:r>
            <a:r>
              <a:rPr lang="en-US" b="1" dirty="0"/>
              <a:t>bulk approval or updates</a:t>
            </a:r>
            <a:r>
              <a:rPr lang="en-US" dirty="0"/>
              <a:t> for multiple employees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Improves efficiency in handling large appraisal cycles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Centralized dashboard for KPI review tracking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Supports quick filtering and bulk operations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Ensures timely completion of appraisal cycles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Improves transparency in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304086778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0" y="702579"/>
            <a:ext cx="8563479" cy="410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028719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84345" cy="379828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Help Desk Management – Raise Ticket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4461" y="521906"/>
            <a:ext cx="8149883" cy="5858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employees to </a:t>
            </a:r>
            <a:r>
              <a:rPr lang="en-US" b="1" dirty="0"/>
              <a:t>raise support tickets</a:t>
            </a:r>
            <a:r>
              <a:rPr lang="en-US" dirty="0"/>
              <a:t> for issues and service requests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quick resolution through proper tracking and assignment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Ticket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 / ID:</a:t>
            </a:r>
            <a:r>
              <a:rPr lang="en-US" dirty="0"/>
              <a:t> </a:t>
            </a:r>
            <a:r>
              <a:rPr lang="en-US" dirty="0" err="1"/>
              <a:t>Durga</a:t>
            </a:r>
            <a:r>
              <a:rPr lang="en-US" dirty="0"/>
              <a:t> Prasad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Department:</a:t>
            </a:r>
            <a:r>
              <a:rPr lang="en-US" dirty="0"/>
              <a:t> Development Department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(e.g., IT, HR, Payroll, Access Issues)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Issue Subject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Priority Level</a:t>
            </a:r>
            <a:r>
              <a:rPr lang="en-US" dirty="0"/>
              <a:t> (Low / Medium / High / Critical)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Description of Issue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Attachment Upload</a:t>
            </a:r>
            <a:r>
              <a:rPr lang="en-US" dirty="0"/>
              <a:t> </a:t>
            </a:r>
            <a:r>
              <a:rPr lang="en-US" i="1" dirty="0"/>
              <a:t>(if required)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HR Email (CC)</a:t>
            </a:r>
            <a:r>
              <a:rPr lang="en-US" dirty="0"/>
              <a:t> for communication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Sections: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My Tickets</a:t>
            </a:r>
            <a:r>
              <a:rPr lang="en-US" dirty="0"/>
              <a:t> – View all raised tickets and their status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Ticket Approval</a:t>
            </a:r>
            <a:r>
              <a:rPr lang="en-US" dirty="0"/>
              <a:t> – Manager/HR approval for applicable requests</a:t>
            </a:r>
          </a:p>
        </p:txBody>
      </p:sp>
    </p:spTree>
    <p:extLst>
      <p:ext uri="{BB962C8B-B14F-4D97-AF65-F5344CB8AC3E}">
        <p14:creationId xmlns:p14="http://schemas.microsoft.com/office/powerpoint/2010/main" val="392390172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52" y="333594"/>
            <a:ext cx="8018585" cy="5879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464710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96886" cy="492369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Help Desk Management – My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0732" y="492369"/>
            <a:ext cx="8839200" cy="5858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employees a </a:t>
            </a:r>
            <a:r>
              <a:rPr lang="en-US" b="1" dirty="0"/>
              <a:t>personal dashboard to track all raised tickets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monitor issue status and progress in real time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Filters Available: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(IT / HR / Payroll / Access / Others)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(Open / In Progress / Resolved / Closed)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 Range</a:t>
            </a:r>
            <a:r>
              <a:rPr lang="en-US" dirty="0"/>
              <a:t> (From – To)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Ticket Details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S. No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Ticket No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Subject / Issue Description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Priority Level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Current Status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Raised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8027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76" y="432068"/>
            <a:ext cx="7863840" cy="576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902419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68751" cy="436098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Help Desk Management – Approve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8867" y="436098"/>
            <a:ext cx="8670387" cy="6273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managers/HR to </a:t>
            </a:r>
            <a:r>
              <a:rPr lang="en-US" b="1" dirty="0"/>
              <a:t>review and approve employee raised tickets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proper validation and prioritization of support requests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Filters Available: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(All Employees)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(All Status)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From Date</a:t>
            </a:r>
            <a:r>
              <a:rPr lang="en-US" dirty="0"/>
              <a:t> and </a:t>
            </a:r>
            <a:r>
              <a:rPr lang="en-US" b="1" dirty="0"/>
              <a:t>To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Ticket Details Include: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Ticket No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(IT / HR / Payroll / Access / Others)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Subject / Issue Description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Status</a:t>
            </a:r>
            <a:r>
              <a:rPr lang="en-US" dirty="0"/>
              <a:t> (Open / In Progress / Approved / Rejected / Resolved)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Priority Level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Raised On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Manager Comments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7485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2" y="615705"/>
            <a:ext cx="9022729" cy="4293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760731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98412" cy="407963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Company News – Management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6665" y="506664"/>
            <a:ext cx="82624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HR/Admin to </a:t>
            </a:r>
            <a:r>
              <a:rPr lang="en-US" b="1" dirty="0"/>
              <a:t>create and manage company-wide news and updates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timely communication of important organizational information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News Details Include: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(e.g., HR Updates, Policy Changes, Events, Announcements)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Select Date</a:t>
            </a:r>
            <a:r>
              <a:rPr lang="en-US" dirty="0"/>
              <a:t> for publishing news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Title &amp; Content of News</a:t>
            </a:r>
            <a:r>
              <a:rPr lang="en-US" dirty="0"/>
              <a:t> </a:t>
            </a:r>
            <a:r>
              <a:rPr lang="en-US" i="1" dirty="0"/>
              <a:t>(as applicable)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Attachments</a:t>
            </a:r>
            <a:r>
              <a:rPr lang="en-US" dirty="0"/>
              <a:t> </a:t>
            </a:r>
            <a:r>
              <a:rPr lang="en-US" i="1" dirty="0"/>
              <a:t>(if required for supporting documents)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0841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4" y="330884"/>
            <a:ext cx="8853441" cy="4311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82683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85871" cy="351692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Company Policies – Employee Policy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18867" y="503484"/>
            <a:ext cx="876886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employees access to </a:t>
            </a:r>
            <a:r>
              <a:rPr lang="en-US" b="1" dirty="0"/>
              <a:t>company policies and guidelines in a centralized system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Ensures transparency and consistent communication of organizational rules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Policy Filters Include: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(All Categories / HR / IT / Finance / Compliance, etc.)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From Date</a:t>
            </a:r>
            <a:r>
              <a:rPr lang="en-US" dirty="0"/>
              <a:t> for filtering policy updates and effective periods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Policy Details Include: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Policy Title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Category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Effective Date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Department (if applicable)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Policy Document / Attachment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0583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13" y="432068"/>
            <a:ext cx="8462691" cy="4069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666440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40615" cy="436098"/>
          </a:xfrm>
        </p:spPr>
        <p:txBody>
          <a:bodyPr>
            <a:normAutofit fontScale="90000"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Events Management – My Events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394" y="436098"/>
            <a:ext cx="8740726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</a:t>
            </a:r>
            <a:r>
              <a:rPr lang="en-US" b="1" dirty="0"/>
              <a:t>monthly calendar view of all company events and schedules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employees stay informed about upcoming organizational activities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Calendar View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Month &amp; Year Display</a:t>
            </a:r>
            <a:r>
              <a:rPr lang="en-US" dirty="0"/>
              <a:t> (e.g., April 2026)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Day-wise Event Mapping (Sun–Sat)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Date-wise Event Listings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Visual calendar for easy event tracking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scheduled company events in a structured format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Supports monthly navigation for past and upcoming events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improve participation and awareness</a:t>
            </a:r>
          </a:p>
        </p:txBody>
      </p:sp>
    </p:spTree>
    <p:extLst>
      <p:ext uri="{BB962C8B-B14F-4D97-AF65-F5344CB8AC3E}">
        <p14:creationId xmlns:p14="http://schemas.microsoft.com/office/powerpoint/2010/main" val="77850415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97" y="412262"/>
            <a:ext cx="5730875" cy="598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68068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39089" cy="450166"/>
          </a:xfrm>
        </p:spPr>
        <p:txBody>
          <a:bodyPr>
            <a:normAutofit fontScale="90000"/>
          </a:bodyPr>
          <a:lstStyle/>
          <a:p>
            <a:r>
              <a:rPr lang="en-US" sz="2500" u="sng" dirty="0">
                <a:solidFill>
                  <a:schemeClr val="tx1"/>
                </a:solidFill>
              </a:rPr>
              <a:t>Employee Management – My Team / Subordinates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450165"/>
            <a:ext cx="893767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managers a </a:t>
            </a:r>
            <a:r>
              <a:rPr lang="en-US" b="1" dirty="0"/>
              <a:t>structured view of their reporting employees (team members)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monitor team structure and employee relationships within the organization </a:t>
            </a:r>
          </a:p>
          <a:p>
            <a:pPr>
              <a:lnSpc>
                <a:spcPct val="200000"/>
              </a:lnSpc>
            </a:pPr>
            <a:r>
              <a:rPr lang="en-US" b="1" u="sng" dirty="0"/>
              <a:t>Key Information Includes:</a:t>
            </a:r>
            <a:endParaRPr lang="en-US" u="sn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Manager View: My Team / Subordinates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Employee Name:</a:t>
            </a:r>
            <a:r>
              <a:rPr lang="en-US" dirty="0"/>
              <a:t> </a:t>
            </a:r>
            <a:r>
              <a:rPr lang="en-US" dirty="0" err="1"/>
              <a:t>Durga</a:t>
            </a:r>
            <a:r>
              <a:rPr lang="en-US" dirty="0"/>
              <a:t> Prasad (Example)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Hierarchical display of </a:t>
            </a:r>
            <a:r>
              <a:rPr lang="en-US" b="1" dirty="0"/>
              <a:t>reporting structure</a:t>
            </a:r>
            <a:r>
              <a:rPr lang="en-US" dirty="0"/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Navigation breadcrumb for easy access (Home &gt; More &gt; My Team)</a:t>
            </a:r>
          </a:p>
        </p:txBody>
      </p:sp>
    </p:spTree>
    <p:extLst>
      <p:ext uri="{BB962C8B-B14F-4D97-AF65-F5344CB8AC3E}">
        <p14:creationId xmlns:p14="http://schemas.microsoft.com/office/powerpoint/2010/main" val="33920790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62" y="523998"/>
            <a:ext cx="8117058" cy="3871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890179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880"/>
            <a:ext cx="8356209" cy="506437"/>
          </a:xfrm>
        </p:spPr>
        <p:txBody>
          <a:bodyPr>
            <a:normAutofit/>
          </a:bodyPr>
          <a:lstStyle/>
          <a:p>
            <a:r>
              <a:rPr lang="en-US" sz="2500" b="1" u="sng" dirty="0">
                <a:solidFill>
                  <a:schemeClr val="tx1"/>
                </a:solidFill>
              </a:rPr>
              <a:t>Employee Management – My Calendar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7341" y="827041"/>
            <a:ext cx="8853267" cy="5442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employees with a </a:t>
            </a:r>
            <a:r>
              <a:rPr lang="en-US" b="1" dirty="0"/>
              <a:t>personal calendar view of their daily work activities and schedules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Helps track attendance, leave, events, and work-related updates in one place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Calendar View Includes: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Month-wise navigation</a:t>
            </a:r>
            <a:r>
              <a:rPr lang="en-US" dirty="0"/>
              <a:t> for easy tracking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 of </a:t>
            </a:r>
            <a:r>
              <a:rPr lang="en-US" b="1" dirty="0"/>
              <a:t>attendance status (Present / Absent / Leave)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Highlighted </a:t>
            </a:r>
            <a:r>
              <a:rPr lang="en-US" b="1" dirty="0"/>
              <a:t>approved leaves and WFH requests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Company </a:t>
            </a:r>
            <a:r>
              <a:rPr lang="en-US" b="1" dirty="0"/>
              <a:t>events and holidays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Timesheet or task-related reminders </a:t>
            </a:r>
            <a:r>
              <a:rPr lang="en-US" i="1" dirty="0"/>
              <a:t>(if applicable)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u="sng" dirty="0"/>
              <a:t>Key Features:</a:t>
            </a:r>
            <a:endParaRPr lang="en-US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Centralized personal schedule dashboard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Color-coded indicators for different activity types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Easy navigation across days, weeks, and months</a:t>
            </a:r>
          </a:p>
        </p:txBody>
      </p:sp>
    </p:spTree>
    <p:extLst>
      <p:ext uri="{BB962C8B-B14F-4D97-AF65-F5344CB8AC3E}">
        <p14:creationId xmlns:p14="http://schemas.microsoft.com/office/powerpoint/2010/main" val="290507029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45" y="1005498"/>
            <a:ext cx="5730875" cy="419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0345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707</TotalTime>
  <Words>6568</Words>
  <Application>Microsoft Office PowerPoint</Application>
  <PresentationFormat>Widescreen</PresentationFormat>
  <Paragraphs>1484</Paragraphs>
  <Slides>160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160</vt:i4>
      </vt:variant>
    </vt:vector>
  </HeadingPairs>
  <TitlesOfParts>
    <vt:vector size="167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Welcome Demo Access  Entry point to the Cortracker HRMS system   Users can generate secure login credentials instantly   Provides full access to key modules for evaluation   Validity: 7 Days Trial Access   Designed for quick onboarding and product experience</vt:lpstr>
      <vt:lpstr>PowerPoint Presentation</vt:lpstr>
      <vt:lpstr>PowerPoint Presentation</vt:lpstr>
      <vt:lpstr>Post Password Change Flow </vt:lpstr>
      <vt:lpstr>Login Validation Flow</vt:lpstr>
      <vt:lpstr>Admin Dashboard Overview</vt:lpstr>
      <vt:lpstr>Company Master – Manage Company Information</vt:lpstr>
      <vt:lpstr>Region Master – Company-Wise Region Management</vt:lpstr>
      <vt:lpstr>Menu Access Workflow</vt:lpstr>
      <vt:lpstr>Role &amp; Permission Workflow</vt:lpstr>
      <vt:lpstr>Department Creation Workflow</vt:lpstr>
      <vt:lpstr>Grade Creation Workflow</vt:lpstr>
      <vt:lpstr>Designation Creation Workflow</vt:lpstr>
      <vt:lpstr>User Creation &amp; Onboarding</vt:lpstr>
      <vt:lpstr>Gender Master – Data Configuration</vt:lpstr>
      <vt:lpstr>Blood Group Master – Configuration</vt:lpstr>
      <vt:lpstr>Marital Status Master – Company &amp; Region Based</vt:lpstr>
      <vt:lpstr>Relationship Master – Company &amp; Region Based</vt:lpstr>
      <vt:lpstr>Certification Type Master – Company &amp; Region Based</vt:lpstr>
      <vt:lpstr>Policy Category Master – Company &amp; Region Based</vt:lpstr>
      <vt:lpstr>Attachment Type Master – Company &amp; Region Based</vt:lpstr>
      <vt:lpstr>Project Status Master – Company &amp; Region Based</vt:lpstr>
      <vt:lpstr>Asset Status Master – Company &amp; Region Based</vt:lpstr>
      <vt:lpstr>Helpdesk Master – Company &amp; Region Based</vt:lpstr>
      <vt:lpstr>Expense Category Master – Company &amp; Region Based</vt:lpstr>
      <vt:lpstr>Leave Management Configuration</vt:lpstr>
      <vt:lpstr>Attendance Status Master – Configuration</vt:lpstr>
      <vt:lpstr>Priority Master – Configuration</vt:lpstr>
      <vt:lpstr>Holiday Management – Configuration</vt:lpstr>
      <vt:lpstr>Week-Off Master – Company &amp; Region Based</vt:lpstr>
      <vt:lpstr>Shift Management – Company &amp; Region Based</vt:lpstr>
      <vt:lpstr>Resignation Management – Configuration</vt:lpstr>
      <vt:lpstr>My Team Configuration – Employee Setup</vt:lpstr>
      <vt:lpstr>Recruitment Notice Period – Configuration</vt:lpstr>
      <vt:lpstr>Interview Level Master – Company &amp; Region Based</vt:lpstr>
      <vt:lpstr>Company News Category – Configuration</vt:lpstr>
      <vt:lpstr>Employment Type Master – Company &amp; Region Based</vt:lpstr>
      <vt:lpstr>Asset Category Master – Company &amp; Region Based</vt:lpstr>
      <vt:lpstr>Asset Category &amp; Asset Type – Company &amp; Region Based</vt:lpstr>
      <vt:lpstr>Currency Configuration – Standardization</vt:lpstr>
      <vt:lpstr>Visa Type Configuration – Compliance Management</vt:lpstr>
      <vt:lpstr>Mode of Study Master – Company &amp; Region Based</vt:lpstr>
      <vt:lpstr>Account Type Master – Company &amp; Region Based</vt:lpstr>
      <vt:lpstr>Project Master – Company &amp; Region Based</vt:lpstr>
      <vt:lpstr>Salary Component Configuration – Company &amp; Region Based</vt:lpstr>
      <vt:lpstr>Salary Structure Management – Company &amp; Region Based</vt:lpstr>
      <vt:lpstr>Employee Salary Structure Assignment</vt:lpstr>
      <vt:lpstr>Monthly Payroll Processing</vt:lpstr>
      <vt:lpstr>Company News Management</vt:lpstr>
      <vt:lpstr>Company Policy Management</vt:lpstr>
      <vt:lpstr>Company Events Management</vt:lpstr>
      <vt:lpstr>USER SCREEN Smart. Seamless. Scalable Workforce Management Empowering organizations with intelligent HR automation and real-time insights</vt:lpstr>
      <vt:lpstr>Employee Dashboard Overview</vt:lpstr>
      <vt:lpstr>Employee Profile (Read-Only View)</vt:lpstr>
      <vt:lpstr>Digital Business Card</vt:lpstr>
      <vt:lpstr>Employee Details Module – Personal Details</vt:lpstr>
      <vt:lpstr>Employee Details Module – Family Details</vt:lpstr>
      <vt:lpstr>Employee Details Module – Emergency Contact Details</vt:lpstr>
      <vt:lpstr>Employee Details Module – Referral Contact</vt:lpstr>
      <vt:lpstr>Employee Details Module – Job History</vt:lpstr>
      <vt:lpstr>Employee Details Module – Certifications</vt:lpstr>
      <vt:lpstr>Employee Details Module – Education Details</vt:lpstr>
      <vt:lpstr>PowerPoint Presentation</vt:lpstr>
      <vt:lpstr>Employee Details Module – Document Management</vt:lpstr>
      <vt:lpstr>PowerPoint Presentation</vt:lpstr>
      <vt:lpstr>Employee Details Module – Forms &amp; Document Submission</vt:lpstr>
      <vt:lpstr>PowerPoint Presentation</vt:lpstr>
      <vt:lpstr>Employee Details Module – Document Records</vt:lpstr>
      <vt:lpstr>PowerPoint Presentation</vt:lpstr>
      <vt:lpstr>Employee Details Module – Letters &amp; Forms List (View Only)</vt:lpstr>
      <vt:lpstr>PowerPoint Presentation</vt:lpstr>
      <vt:lpstr>Employee Details Module – Bank Details</vt:lpstr>
      <vt:lpstr>PowerPoint Presentation</vt:lpstr>
      <vt:lpstr>Employee Details Module – Demand Draft (DD) Details</vt:lpstr>
      <vt:lpstr>PowerPoint Presentation</vt:lpstr>
      <vt:lpstr>Employee Details Module – Tax InformationEmployee Details Module – Tax Information</vt:lpstr>
      <vt:lpstr>PowerPoint Presentation</vt:lpstr>
      <vt:lpstr>Employee Separation – Resignation Management</vt:lpstr>
      <vt:lpstr>PowerPoint Presentation</vt:lpstr>
      <vt:lpstr>Resignation Requests – Manager Review</vt:lpstr>
      <vt:lpstr>PowerPoint Presentation</vt:lpstr>
      <vt:lpstr>Employee Details Module – Personal &amp; Visa Information</vt:lpstr>
      <vt:lpstr>PowerPoint Presentation</vt:lpstr>
      <vt:lpstr>Attendance Management – Clock In / Clock Out</vt:lpstr>
      <vt:lpstr>PowerPoint Presentation</vt:lpstr>
      <vt:lpstr>Attendance Management – Shift Allocation</vt:lpstr>
      <vt:lpstr>PowerPoint Presentation</vt:lpstr>
      <vt:lpstr>Attendance Management – WFH / Remote Request</vt:lpstr>
      <vt:lpstr>PowerPoint Presentation</vt:lpstr>
      <vt:lpstr>WFH / Remote Requests – Pending Approvals</vt:lpstr>
      <vt:lpstr>PowerPoint Presentation</vt:lpstr>
      <vt:lpstr>Attendance Management – Missed Punch Request</vt:lpstr>
      <vt:lpstr>PowerPoint Presentation</vt:lpstr>
      <vt:lpstr>Attendance Management – Pending Approvals (Missed Punch)</vt:lpstr>
      <vt:lpstr>PowerPoint Presentation</vt:lpstr>
      <vt:lpstr>Attendance Management – Employee Attendance</vt:lpstr>
      <vt:lpstr>PowerPoint Presentation</vt:lpstr>
      <vt:lpstr>Leave Management – Apply for Leave</vt:lpstr>
      <vt:lpstr>PowerPoint Presentation</vt:lpstr>
      <vt:lpstr>Leave Management – Leave Approvals (Manager View)</vt:lpstr>
      <vt:lpstr>PowerPoint Presentation</vt:lpstr>
      <vt:lpstr>Leave Management – Leave Calendar View</vt:lpstr>
      <vt:lpstr>PowerPoint Presentation</vt:lpstr>
      <vt:lpstr>Expense Management – Expense Submission</vt:lpstr>
      <vt:lpstr>PowerPoint Presentation</vt:lpstr>
      <vt:lpstr>Expense Management – Expense List &amp; Tracking</vt:lpstr>
      <vt:lpstr>PowerPoint Presentation</vt:lpstr>
      <vt:lpstr>Expense Management – Approval Requests</vt:lpstr>
      <vt:lpstr>PowerPoint Presentation</vt:lpstr>
      <vt:lpstr>Payroll Management – Payslip Generation</vt:lpstr>
      <vt:lpstr>PowerPoint Presentation</vt:lpstr>
      <vt:lpstr>Payroll Management – HR Payslip Dashboard</vt:lpstr>
      <vt:lpstr>PowerPoint Presentation</vt:lpstr>
      <vt:lpstr>Asset Management – Asset Creation &amp; Management</vt:lpstr>
      <vt:lpstr>PowerPoint Presentation</vt:lpstr>
      <vt:lpstr>Asset Management – Asset Request</vt:lpstr>
      <vt:lpstr>PowerPoint Presentation</vt:lpstr>
      <vt:lpstr>Asset Management – Asset Approvals</vt:lpstr>
      <vt:lpstr>PowerPoint Presentation</vt:lpstr>
      <vt:lpstr>Asset Management – Asset Assignment</vt:lpstr>
      <vt:lpstr>PowerPoint Presentation</vt:lpstr>
      <vt:lpstr>Asset Management – My Assets</vt:lpstr>
      <vt:lpstr>PowerPoint Presentation</vt:lpstr>
      <vt:lpstr>Timesheet Management – Timesheet Entry</vt:lpstr>
      <vt:lpstr>PowerPoint Presentation</vt:lpstr>
      <vt:lpstr>Timesheet Management – Timesheet Approvals</vt:lpstr>
      <vt:lpstr>PowerPoint Presentation</vt:lpstr>
      <vt:lpstr>Recruitment Management – Resume Upload &amp; Candidate Management</vt:lpstr>
      <vt:lpstr>PowerPoint Presentation</vt:lpstr>
      <vt:lpstr>Recruitment Management – Screening Process</vt:lpstr>
      <vt:lpstr>PowerPoint Presentation</vt:lpstr>
      <vt:lpstr>Recruitment Management – Interview Scheduling &amp; Feedback</vt:lpstr>
      <vt:lpstr>PowerPoint Presentation</vt:lpstr>
      <vt:lpstr>Recruitment Management – Appointment Details</vt:lpstr>
      <vt:lpstr>PowerPoint Presentation</vt:lpstr>
      <vt:lpstr>Recruitment Management – Offer Management</vt:lpstr>
      <vt:lpstr>PowerPoint Presentation</vt:lpstr>
      <vt:lpstr>Recruitment Management – Onboarding</vt:lpstr>
      <vt:lpstr>PowerPoint Presentation</vt:lpstr>
      <vt:lpstr>Performance Management – KPI Submission &amp; Review</vt:lpstr>
      <vt:lpstr>PowerPoint Presentation</vt:lpstr>
      <vt:lpstr>Performance Management – Pending KPI Reviews</vt:lpstr>
      <vt:lpstr>PowerPoint Presentation</vt:lpstr>
      <vt:lpstr>Help Desk Management – Raise Ticket</vt:lpstr>
      <vt:lpstr>PowerPoint Presentation</vt:lpstr>
      <vt:lpstr>Help Desk Management – My Tickets</vt:lpstr>
      <vt:lpstr>PowerPoint Presentation</vt:lpstr>
      <vt:lpstr>Help Desk Management – Approve Tickets</vt:lpstr>
      <vt:lpstr>PowerPoint Presentation</vt:lpstr>
      <vt:lpstr>Company News – Management Module</vt:lpstr>
      <vt:lpstr>PowerPoint Presentation</vt:lpstr>
      <vt:lpstr>Company Policies – Employee Policy Management</vt:lpstr>
      <vt:lpstr>PowerPoint Presentation</vt:lpstr>
      <vt:lpstr>Events Management – My Events Calendar</vt:lpstr>
      <vt:lpstr>PowerPoint Presentation</vt:lpstr>
      <vt:lpstr>Employee Management – My Team / Subordinates</vt:lpstr>
      <vt:lpstr>PowerPoint Presentation</vt:lpstr>
      <vt:lpstr>Employee Management – My Calendar 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kondaparthy vishal</dc:creator>
  <cp:lastModifiedBy>HR</cp:lastModifiedBy>
  <cp:revision>374</cp:revision>
  <dcterms:created xsi:type="dcterms:W3CDTF">2026-04-16T10:32:29Z</dcterms:created>
  <dcterms:modified xsi:type="dcterms:W3CDTF">2026-04-20T12:08:11Z</dcterms:modified>
</cp:coreProperties>
</file>